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624434" name="Platzhalter für Überschrift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40542261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de-DE"/>
              <a:t>10/30/2013</a:t>
            </a:fld>
            <a:endParaRPr lang="de-DE"/>
          </a:p>
        </p:txBody>
      </p:sp>
      <p:sp>
        <p:nvSpPr>
          <p:cNvPr id="1092783953" name="Platzhalter für Folienbi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621221286" name="Platzhalter für Notizen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037339233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733041325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032293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347231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1416191378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282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5639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988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1A21CC-74C6-3F02-06B8-FDC6FC1048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70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8440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728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63E75C-7DE3-1389-5D3D-0630D64A6B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659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2591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752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690D9-6CA8-B186-A1C4-A612F58BD1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813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008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6938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FE1766-5ACB-288A-7851-97B9BB3BB5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923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0232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BA2A2A-FBF0-8470-FB0C-912A2CAEA6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157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1044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620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D1B3C1-0FFD-8D32-FF01-307BBA2725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67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3543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903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291ABA-9EEA-7A7E-64B6-6D52CD3F3B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51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8398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845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52CDFB-7521-6250-E57E-180812EFA3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60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5907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6951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A56069-7165-67AC-9FD3-13FC6E25EC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23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86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013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58BFF5-72E2-FEF4-1928-6B30CFB1B1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876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1236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85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5740AE-922A-00DF-2AF6-129167E422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59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76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293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46729A-4A4C-8D5C-DB9E-DD0DF3FAF6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011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468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666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AB21D7-65B6-F0EF-031D-B4BF9D64A6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385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604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5CA1D9-1A0A-AAC3-0162-C45A75E4AA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54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713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16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4004C6-D2FC-96D8-D07A-4CECAA1722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467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7468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412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BE413B-1A5A-C21C-883A-2C70FEBCD0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707991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0293792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3751490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3511922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9541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0161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124925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127980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6441349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39992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52671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910435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042027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5758426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705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1640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5668854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0808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38327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8318545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5322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9612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1648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214322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0355794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198343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3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142124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35799828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8372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7073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806104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95598793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0740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00431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55614129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07373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217202" name="Title 1"/>
          <p:cNvSpPr>
            <a:spLocks noGrp="1"/>
          </p:cNvSpPr>
          <p:nvPr>
            <p:ph type="title"/>
          </p:nvPr>
        </p:nvSpPr>
        <p:spPr bwMode="auto">
          <a:xfrm>
            <a:off x="609606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83868675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65250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6" y="1435103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267469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6415875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402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964303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4684002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358328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864546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5779230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189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064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646962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782437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6819184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7680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41306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3769470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671364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6115201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9033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705941" name="Shape 1058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51052910" name="Shape 1059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  <a:headEnd/>
            <a:tailEnd/>
          </a:ln>
        </p:spPr>
      </p:sp>
      <p:sp>
        <p:nvSpPr>
          <p:cNvPr id="430332797" name="Shape 1060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  <a:headEnd/>
            <a:tailEnd/>
          </a:ln>
        </p:spPr>
      </p:sp>
      <p:sp>
        <p:nvSpPr>
          <p:cNvPr id="208607978" name="Shape 1061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254"/>
              </a:srgbClr>
            </a:solidFill>
            <a:round/>
            <a:headEnd/>
            <a:tailEnd/>
          </a:ln>
        </p:spPr>
      </p:sp>
      <p:sp>
        <p:nvSpPr>
          <p:cNvPr id="1853058836" name="Shape 1062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5882"/>
              </a:srgbClr>
            </a:solidFill>
            <a:round/>
            <a:headEnd/>
            <a:tailEnd/>
          </a:ln>
        </p:spPr>
      </p:sp>
      <p:sp>
        <p:nvSpPr>
          <p:cNvPr id="2050387328" name="Shape 1063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4900"/>
              </a:srgbClr>
            </a:solidFill>
            <a:round/>
            <a:headEnd/>
            <a:tailEnd/>
          </a:ln>
        </p:spPr>
      </p:sp>
      <p:sp>
        <p:nvSpPr>
          <p:cNvPr id="1556412430" name="Shape 1064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3529"/>
              </a:srgbClr>
            </a:solidFill>
            <a:round/>
            <a:headEnd/>
            <a:tailEnd/>
          </a:ln>
        </p:spPr>
      </p:sp>
      <p:sp>
        <p:nvSpPr>
          <p:cNvPr id="1001202138" name="Shape 1065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156"/>
              </a:srgbClr>
            </a:solidFill>
            <a:round/>
            <a:headEnd/>
            <a:tailEnd/>
          </a:ln>
        </p:spPr>
      </p:sp>
      <p:sp>
        <p:nvSpPr>
          <p:cNvPr id="1897801906" name="Shape 1066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176"/>
              </a:srgbClr>
            </a:solidFill>
            <a:round/>
            <a:headEnd/>
            <a:tailEnd/>
          </a:ln>
        </p:spPr>
      </p:sp>
      <p:sp>
        <p:nvSpPr>
          <p:cNvPr id="737044915" name="Shape 1067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9803"/>
              </a:srgbClr>
            </a:solidFill>
            <a:round/>
            <a:headEnd/>
            <a:tailEnd/>
          </a:ln>
        </p:spPr>
      </p:sp>
      <p:sp>
        <p:nvSpPr>
          <p:cNvPr id="14379758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707911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45998594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539880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  <p:sp>
        <p:nvSpPr>
          <p:cNvPr id="563141302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ionos.de/startupguide/produktivitaet/spiralmodell/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ionos.de/startupguide/produktivitaet/spiralmode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657877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Spiralmodell</a:t>
            </a:r>
            <a:endParaRPr lang="de-DE"/>
          </a:p>
        </p:txBody>
      </p:sp>
      <p:sp>
        <p:nvSpPr>
          <p:cNvPr id="1034841519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Von Dustin und Konstantin</a:t>
            </a:r>
            <a:endParaRPr lang="de-DE"/>
          </a:p>
        </p:txBody>
      </p:sp>
      <p:sp>
        <p:nvSpPr>
          <p:cNvPr id="16616448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862BB8E-A233-EB1F-3BE8-7528F9DBAA40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7007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Gliederung</a:t>
            </a:r>
            <a:endParaRPr/>
          </a:p>
        </p:txBody>
      </p:sp>
      <p:sp>
        <p:nvSpPr>
          <p:cNvPr id="3518804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Allgemeines</a:t>
            </a:r>
            <a:endParaRPr/>
          </a:p>
          <a:p>
            <a:pPr>
              <a:defRPr/>
            </a:pPr>
            <a:r>
              <a:rPr/>
              <a:t>Phasen</a:t>
            </a:r>
            <a:endParaRPr/>
          </a:p>
          <a:p>
            <a:pPr>
              <a:defRPr/>
            </a:pPr>
            <a:r>
              <a:rPr/>
              <a:t>Vor- und Nachteile</a:t>
            </a:r>
            <a:endParaRPr/>
          </a:p>
          <a:p>
            <a:pPr>
              <a:defRPr/>
            </a:pPr>
            <a:r>
              <a:rPr/>
              <a:t>Grafische Abbildung</a:t>
            </a:r>
            <a:endParaRPr/>
          </a:p>
        </p:txBody>
      </p:sp>
      <p:sp>
        <p:nvSpPr>
          <p:cNvPr id="20653856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357030-F725-C0A2-3F1E-9C2C6C0E1E9F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4788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Allgemeine Informationen</a:t>
            </a:r>
            <a:endParaRPr/>
          </a:p>
        </p:txBody>
      </p:sp>
      <p:sp>
        <p:nvSpPr>
          <p:cNvPr id="18365833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Jahr 1986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von Barry W. Beohm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Konzept für die Entwicklung komplexer Anwendungen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 Phasen linear in iterativem Zyklus durchlaufen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regelmäßige Risikobeachtung</a:t>
            </a:r>
            <a:endParaRPr/>
          </a:p>
        </p:txBody>
      </p:sp>
      <p:sp>
        <p:nvSpPr>
          <p:cNvPr id="9667879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55062B2-6516-9784-6B15-13B910B77F11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4761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Phasen</a:t>
            </a:r>
            <a:endParaRPr/>
          </a:p>
        </p:txBody>
      </p:sp>
      <p:sp>
        <p:nvSpPr>
          <p:cNvPr id="1009919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438080" indent="-438080">
              <a:buFont typeface="Arial"/>
              <a:buAutoNum type="arabicPeriod"/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Definition von Zielen und Alternativen sowie Beschreibung der Rahmenbedingungen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Bewertung der Alternativen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Entwicklung und Überprüfung des Zwischenstands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Planung des nächsten Zyklus</a:t>
            </a:r>
            <a:endParaRPr/>
          </a:p>
        </p:txBody>
      </p:sp>
      <p:sp>
        <p:nvSpPr>
          <p:cNvPr id="16579227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091922A-803F-F616-6FA8-32560B9D5AFA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083263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Phase 1</a:t>
            </a:r>
            <a:endParaRPr/>
          </a:p>
        </p:txBody>
      </p:sp>
      <p:sp>
        <p:nvSpPr>
          <p:cNvPr id="1937273088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Definition von Zielen und Alternativen sowie Beschreibung der Rahmenbedingungen</a:t>
            </a:r>
            <a:endParaRPr/>
          </a:p>
        </p:txBody>
      </p:sp>
      <p:sp>
        <p:nvSpPr>
          <p:cNvPr id="604982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4885655-1447-2FE0-73E6-E09A21E41F46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393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Phase 1</a:t>
            </a:r>
            <a:endParaRPr/>
          </a:p>
        </p:txBody>
      </p:sp>
      <p:sp>
        <p:nvSpPr>
          <p:cNvPr id="15253442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Festlegung von Zielvorgaben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Verbesserung der Performance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Ausbau der Funktionalität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Aufstellung von Alternativen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Design A vs. Design B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Bestimmung von Rahmenbedingungen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Kosten und Zeit</a:t>
            </a:r>
            <a:endParaRPr/>
          </a:p>
        </p:txBody>
      </p:sp>
      <p:sp>
        <p:nvSpPr>
          <p:cNvPr id="20833049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94F6D-D7B1-5204-70F3-840C6D9E6E55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384861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Phase 2</a:t>
            </a:r>
            <a:endParaRPr/>
          </a:p>
        </p:txBody>
      </p:sp>
      <p:sp>
        <p:nvSpPr>
          <p:cNvPr id="9734085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Bewertung der Alternativen</a:t>
            </a:r>
            <a:endParaRPr/>
          </a:p>
        </p:txBody>
      </p:sp>
      <p:sp>
        <p:nvSpPr>
          <p:cNvPr id="18556240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6BF191-F907-D3CA-A6BB-5FC21407CBD8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9637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Phase 2</a:t>
            </a:r>
            <a:endParaRPr/>
          </a:p>
        </p:txBody>
      </p:sp>
      <p:sp>
        <p:nvSpPr>
          <p:cNvPr id="21378636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Zielvorgaben und Rahmenbedingungen als Bezugsgrößen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Unsicherheitsbereiche Identifizieren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Prototests, Stresstests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Ausarbeitung der Risikoärmsten und kosteneffizientesten Strategie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Simulationen, Benchmark-Tests, Analysemodelle, Nutzerbefragungen</a:t>
            </a:r>
            <a:endParaRPr/>
          </a:p>
        </p:txBody>
      </p:sp>
      <p:sp>
        <p:nvSpPr>
          <p:cNvPr id="15284096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5088CBC-58F3-5B63-83E6-63E66A3C8AB9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086850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Phase 3</a:t>
            </a:r>
            <a:endParaRPr/>
          </a:p>
        </p:txBody>
      </p:sp>
      <p:sp>
        <p:nvSpPr>
          <p:cNvPr id="1032915859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Entwicklung und Überprüfung des Zwischenstands</a:t>
            </a:r>
            <a:endParaRPr/>
          </a:p>
        </p:txBody>
      </p:sp>
      <p:sp>
        <p:nvSpPr>
          <p:cNvPr id="1607984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3927595-8476-4ED9-9BF7-C980380D612F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984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Phase 3</a:t>
            </a:r>
            <a:endParaRPr/>
          </a:p>
        </p:txBody>
      </p:sp>
      <p:sp>
        <p:nvSpPr>
          <p:cNvPr id="19420952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Entwicklung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Weiterentwicklung der Software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Überprüfung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Optimierung der Software</a:t>
            </a:r>
            <a:endParaRPr lang="de-DE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Bugfixing</a:t>
            </a:r>
            <a:endParaRPr/>
          </a:p>
        </p:txBody>
      </p:sp>
      <p:sp>
        <p:nvSpPr>
          <p:cNvPr id="14131303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C488BB-5D42-8131-AEF1-B5CA93F432EE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110183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Phase 4</a:t>
            </a:r>
            <a:endParaRPr/>
          </a:p>
        </p:txBody>
      </p:sp>
      <p:sp>
        <p:nvSpPr>
          <p:cNvPr id="894909752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Planung des nächsten Zyklus</a:t>
            </a:r>
            <a:endParaRPr/>
          </a:p>
        </p:txBody>
      </p:sp>
      <p:sp>
        <p:nvSpPr>
          <p:cNvPr id="15823180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EA0531-B72C-70F7-0B5E-ED62EE1EC9A4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6002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0385388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09599" y="1535113"/>
            <a:ext cx="10972800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9965" indent="-349965">
              <a:buFont typeface="Arial"/>
              <a:buChar char="•"/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Überprüfung der Ziele des Zykluses</a:t>
            </a:r>
            <a:endParaRPr b="0"/>
          </a:p>
        </p:txBody>
      </p:sp>
      <p:sp>
        <p:nvSpPr>
          <p:cNvPr id="14355812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reguläre Fortsetzung</a:t>
            </a:r>
            <a:endParaRPr lang="de-DE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0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Wenn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Ziel in Zeit erreicht</a:t>
            </a:r>
            <a:endParaRPr lang="de-DE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2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Entwicklung war erfolgreich</a:t>
            </a:r>
            <a:endParaRPr lang="de-DE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0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Dann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Definition des nächsten Ziels</a:t>
            </a:r>
            <a:endParaRPr/>
          </a:p>
        </p:txBody>
      </p:sp>
      <p:sp>
        <p:nvSpPr>
          <p:cNvPr id="165781772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3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ungeplante Fortsetzung</a:t>
            </a:r>
            <a:endParaRPr lang="de-DE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0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Wenn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Ziel nicht in Zeit erreicht</a:t>
            </a:r>
            <a:endParaRPr lang="de-DE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2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Entwicklung war fehlerhaft</a:t>
            </a:r>
            <a:endParaRPr lang="de-DE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0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Dann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Änderung der Strategie (alte oder neue Alternativen)</a:t>
            </a:r>
            <a:endParaRPr lang="de-DE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2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neuen Versuch Starten</a:t>
            </a:r>
            <a:endParaRPr/>
          </a:p>
        </p:txBody>
      </p:sp>
      <p:sp>
        <p:nvSpPr>
          <p:cNvPr id="50607506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E62DB0-6448-735F-2286-E82F7383C0E9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5271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Vor- und Nachteile</a:t>
            </a:r>
            <a:endParaRPr/>
          </a:p>
        </p:txBody>
      </p:sp>
      <p:graphicFrame>
        <p:nvGraphicFramePr>
          <p:cNvPr id="2141802037" name=""/>
          <p:cNvGraphicFramePr>
            <a:graphicFrameLocks xmlns:a="http://schemas.openxmlformats.org/drawingml/2006/main"/>
          </p:cNvGraphicFramePr>
          <p:nvPr/>
        </p:nvGraphicFramePr>
        <p:xfrm>
          <a:off x="609599" y="1456689"/>
          <a:ext cx="11146896" cy="3944619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5567098"/>
                <a:gridCol w="5567098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Vorteile</a:t>
                      </a:r>
                      <a:endParaRPr/>
                    </a:p>
                  </a:txBody>
                  <a:tcPr>
                    <a:lnL w="634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chemeClr val="bg1"/>
                      </a:solidFill>
                    </a:lnR>
                    <a:lnT w="634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Nachteile</a:t>
                      </a:r>
                      <a:endParaRPr/>
                    </a:p>
                  </a:txBody>
                  <a:tcPr>
                    <a:lnL w="12699" algn="ctr">
                      <a:solidFill>
                        <a:schemeClr val="bg1"/>
                      </a:solidFill>
                    </a:lnL>
                    <a:lnR w="6349" algn="ctr">
                      <a:solidFill>
                        <a:srgbClr val="000000"/>
                      </a:solidFill>
                    </a:lnR>
                    <a:lnT w="634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flexibles, generisches Modell</a:t>
                      </a:r>
                      <a:endParaRPr/>
                    </a:p>
                  </a:txBody>
                  <a:tcPr>
                    <a:lnL w="634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chemeClr val="bg1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hoher Managementaufwand</a:t>
                      </a:r>
                      <a:endParaRPr/>
                    </a:p>
                  </a:txBody>
                  <a:tcPr>
                    <a:lnL w="12699" algn="ctr">
                      <a:solidFill>
                        <a:schemeClr val="bg1"/>
                      </a:solidFill>
                    </a:lnL>
                    <a:lnR w="634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frühe Einbindung von Auftraggebern und Anwendern möglich</a:t>
                      </a:r>
                      <a:endParaRPr/>
                    </a:p>
                  </a:txBody>
                  <a:tcPr>
                    <a:lnL w="634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chemeClr val="bg1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regelmäßige Entscheidungen können den Entwicklungsprozess verzögern</a:t>
                      </a:r>
                      <a:endParaRPr/>
                    </a:p>
                  </a:txBody>
                  <a:tcPr>
                    <a:lnL w="12699" algn="ctr">
                      <a:solidFill>
                        <a:schemeClr val="bg1"/>
                      </a:solidFill>
                    </a:lnL>
                    <a:lnR w="634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periodische, risikogetriebene Überprüfung</a:t>
                      </a:r>
                      <a:endParaRPr/>
                    </a:p>
                  </a:txBody>
                  <a:tcPr>
                    <a:lnL w="634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chemeClr val="bg1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Durch den aufgegliederten Entwicklungsprozess gelangen Fehler und konzeptionelle Ungereimtheiten leicht in das Endprodukt</a:t>
                      </a:r>
                      <a:endParaRPr/>
                    </a:p>
                  </a:txBody>
                  <a:tcPr>
                    <a:lnL w="12699" algn="ctr">
                      <a:solidFill>
                        <a:schemeClr val="bg1"/>
                      </a:solidFill>
                    </a:lnL>
                    <a:lnR w="634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perfekte Abstimmung zwischen technischen Anforderungen und Design</a:t>
                      </a:r>
                      <a:endParaRPr/>
                    </a:p>
                  </a:txBody>
                  <a:tcPr>
                    <a:lnL w="634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chemeClr val="bg1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Know-How in Risikoanalyse bzw. -management essenziell, aber oft nicht vorhanden</a:t>
                      </a:r>
                      <a:endParaRPr/>
                    </a:p>
                  </a:txBody>
                  <a:tcPr>
                    <a:lnL w="12699" algn="ctr">
                      <a:solidFill>
                        <a:schemeClr val="bg1"/>
                      </a:solidFill>
                    </a:lnL>
                    <a:lnR w="634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maximale Kontrolle über Kosten, Ressourcen und Qualität des Softwareprojekts</a:t>
                      </a:r>
                      <a:endParaRPr/>
                    </a:p>
                  </a:txBody>
                  <a:tcPr>
                    <a:lnL w="634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chemeClr val="bg1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für kleinere Projekte mit überschaubarem Risiko ungeeignet</a:t>
                      </a:r>
                      <a:endParaRPr/>
                    </a:p>
                  </a:txBody>
                  <a:tcPr>
                    <a:lnL w="12699" algn="ctr">
                      <a:solidFill>
                        <a:schemeClr val="bg1"/>
                      </a:solidFill>
                    </a:lnL>
                    <a:lnR w="634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12699" algn="ctr">
                      <a:solidFill>
                        <a:schemeClr val="bg1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gut für neuartige technische Umgebungen geeignet</a:t>
                      </a:r>
                      <a:endParaRPr/>
                    </a:p>
                  </a:txBody>
                  <a:tcPr>
                    <a:lnL w="634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chemeClr val="bg1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634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lnL w="12699" algn="ctr">
                      <a:solidFill>
                        <a:schemeClr val="bg1"/>
                      </a:solidFill>
                    </a:lnL>
                    <a:lnR w="634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chemeClr val="bg1"/>
                      </a:solidFill>
                    </a:lnT>
                    <a:lnB w="634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6135628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401245-B020-B83F-DC9F-10E47BD1AEEC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184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Grafisches Design</a:t>
            </a:r>
            <a:endParaRPr/>
          </a:p>
        </p:txBody>
      </p:sp>
      <p:sp>
        <p:nvSpPr>
          <p:cNvPr id="20268259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spiralförmige, zyklusgestützte Prozess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Spirale wird pro Iteration größer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mehr Fortschritt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Zustimmung durch Überprüfung (X-Achse)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Entwicklungskosten (Y-Achse)</a:t>
            </a:r>
            <a:endParaRPr/>
          </a:p>
        </p:txBody>
      </p:sp>
      <p:sp>
        <p:nvSpPr>
          <p:cNvPr id="108709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BBF1849-5EA9-8D2F-87A4-D1F70A1C6DAC}" type="slidenum">
              <a:rPr/>
              <a:t/>
            </a:fld>
            <a:endParaRPr/>
          </a:p>
        </p:txBody>
      </p:sp>
      <p:pic>
        <p:nvPicPr>
          <p:cNvPr id="12598525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1684" y="6945164"/>
            <a:ext cx="8888628" cy="4999852"/>
          </a:xfrm>
          <a:prstGeom prst="rect">
            <a:avLst/>
          </a:prstGeom>
          <a:solidFill>
            <a:schemeClr val="bg1">
              <a:alpha val="48999"/>
            </a:schemeClr>
          </a:solidFill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2148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Grafisches Design</a:t>
            </a:r>
            <a:endParaRPr/>
          </a:p>
        </p:txBody>
      </p:sp>
      <p:sp>
        <p:nvSpPr>
          <p:cNvPr id="4993378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095BFF-D9E1-D39D-161D-F8C2E8F4D2F5}" type="slidenum">
              <a:rPr/>
              <a:t/>
            </a:fld>
            <a:endParaRPr/>
          </a:p>
        </p:txBody>
      </p:sp>
      <p:pic>
        <p:nvPicPr>
          <p:cNvPr id="7336142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1685" y="1600201"/>
            <a:ext cx="8888628" cy="4999853"/>
          </a:xfrm>
          <a:prstGeom prst="rect">
            <a:avLst/>
          </a:prstGeom>
          <a:solidFill>
            <a:schemeClr val="bg1">
              <a:alpha val="48999"/>
            </a:schemeClr>
          </a:solidFill>
          <a:ln>
            <a:noFill/>
          </a:ln>
          <a:effectLst/>
        </p:spPr>
      </p:pic>
      <p:sp>
        <p:nvSpPr>
          <p:cNvPr id="36971551" name="Content Placeholder 2"/>
          <p:cNvSpPr>
            <a:spLocks noGrp="1"/>
          </p:cNvSpPr>
          <p:nvPr>
            <p:ph idx="1"/>
          </p:nvPr>
        </p:nvSpPr>
        <p:spPr bwMode="auto">
          <a:xfrm>
            <a:off x="609599" y="7119777"/>
            <a:ext cx="10972800" cy="4525961"/>
          </a:xfrm>
        </p:spPr>
        <p:txBody>
          <a:bodyPr/>
          <a:lstStyle/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spiralförmige, zyklusgestützte Prozess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Spirale wird pro Iteration größer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mehr Fortschritt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Zustimmung durch Überprüfung (X-Achse)</a:t>
            </a:r>
            <a:endParaRPr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Entwicklungskosten (Y-Achse)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159:morph option="byObject"/>
      </p:transition>
    </mc:Choice>
    <mc:Fallback>
      <p:transition spd="slow" advClick="1">
        <p:fade/>
      </p:transition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3923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Quellen</a:t>
            </a:r>
            <a:endParaRPr/>
          </a:p>
        </p:txBody>
      </p:sp>
      <p:sp>
        <p:nvSpPr>
          <p:cNvPr id="766030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Buch IT-Berufe S. 515 - 516</a:t>
            </a:r>
            <a:endParaRPr/>
          </a:p>
          <a:p>
            <a:pPr>
              <a:defRPr/>
            </a:pPr>
            <a:r>
              <a:rPr lang="de-DE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https://www.ionos.de/startupguide/produktivitaet/spiralmodell/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3569929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89DF6-68E2-A02D-1CDD-73AE2F596681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8366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Bildquellen</a:t>
            </a:r>
            <a:endParaRPr/>
          </a:p>
        </p:txBody>
      </p:sp>
      <p:sp>
        <p:nvSpPr>
          <p:cNvPr id="14955387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https://www.ionos.de/startupguide/produktivitaet/spiralmodell/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6633058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21263B2-E379-726B-CC53-0A84CC5F7920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2012-12-03T06:56:55Z</dcterms:created>
  <dcterms:modified xsi:type="dcterms:W3CDTF">2025-11-06T08:52:38Z</dcterms:modified>
</cp:coreProperties>
</file>