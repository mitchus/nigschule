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4"/>
    <p:restoredTop sz="94646"/>
  </p:normalViewPr>
  <p:slideViewPr>
    <p:cSldViewPr snapToGrid="0" snapToObjects="1">
      <p:cViewPr varScale="1">
        <p:scale>
          <a:sx n="98" d="100"/>
          <a:sy n="98" d="100"/>
        </p:scale>
        <p:origin x="23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DFC521-13A2-244E-A9E1-1209264D24C5}" type="datetimeFigureOut">
              <a:rPr lang="de-DE" smtClean="0"/>
              <a:t>15.09.25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3D03D-5E77-D848-944C-B97D672E181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0074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F2A2E-C249-6C45-879A-C7274B682E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3A5812-98D8-AD48-B608-4E883DEB2E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0B26A-3F55-C940-BBEB-277CC3D88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16.09.25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E0E28-2E0B-E146-A2F1-A13E9DBF3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LE3.1 - Rechenzentren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CF3BC-E20E-5F4E-8F50-9846F39BC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BCB3-4D98-684F-B8D7-66B62FCAB05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890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5507-DCA4-2D48-A41F-7F3DBD181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A11D1-36A2-434A-95D6-7E51F6581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4BC1C-1AB6-0740-8427-41844ECD7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16.09.25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ED327-9A64-DD44-8DC4-75E6F61F7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LE3.1 - Rechenzentren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9E6A5-48AF-5241-902D-AE598C957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BCB3-4D98-684F-B8D7-66B62FCAB05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9103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ED08D-B7AE-0C43-AE09-1D9580A58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E38DF-6996-514D-A9FC-EF89AF8CE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CB6D3-CFD0-0A4B-B3F2-DBBEAE7F9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16.09.25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BC398-51AA-2C49-AA92-4FBE0CABA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LE3.1 - Rechenzentren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BD740-3693-8F4B-9D6F-190F9013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BCB3-4D98-684F-B8D7-66B62FCAB05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0644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5E270-87BE-AA44-A428-B102C2623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83C78-4589-C341-AF5F-6AB5BA5B79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C763F-3CBD-6F4B-82A2-7B4A10FF8F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B8A49-86B2-E140-AF4C-DB82907F4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16.09.25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8B2D24-93BA-7E41-BD18-686CD185F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LE3.1 - Rechenzentren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B81B17-A688-0C49-8622-D37E227A2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BCB3-4D98-684F-B8D7-66B62FCAB05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8295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3CC1D-5217-D742-8D29-78A0DB902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CE0F2-1F34-3D4F-BA24-87824C329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97568A-0843-C44E-B8C4-6B1E26B061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F9757-DF71-024A-A50E-1D8FF9D345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343E41-536D-8541-9070-F16EEBBB4E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0879A8-2811-B441-B458-4D2D872EA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16.09.25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91C1C9-745C-7842-A60E-483C91A2C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LE3.1 - Rechenzentren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5F29F-0302-1F48-B995-17B2FF935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BCB3-4D98-684F-B8D7-66B62FCAB05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5568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6A858-0B2E-8147-B978-88018A9FC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F0E151-EFBD-1044-B254-F8DE113BA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16.09.25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795356-6FEA-9146-BBD1-C162D526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LE3.1 - Rechenzentren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B97684-8DAF-6641-B91F-1FF5F7214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BCB3-4D98-684F-B8D7-66B62FCAB05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7585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F7802F-50CD-7A41-B098-2F74A4CD6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16.09.25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B25484-3DA8-8447-8B80-259959465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LE3.1 - Rechenzentren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EBF39-6A27-CE4B-8E2B-0CDAEBAAB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BCB3-4D98-684F-B8D7-66B62FCAB05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6124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445AD-491A-DA45-8219-66C379103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E0FFC-5D52-C04C-AFB2-61E2AA3EE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599623-E649-4541-AFA4-8BCC8333C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6BB344-FC17-AE40-A759-8B0CEDE1F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16.09.25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9F1CBB-37C2-B14B-BE61-BB6E0C69F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LE3.1 - Rechenzentren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5BDCA-53E4-8E49-98B5-D1E26FDFB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BCB3-4D98-684F-B8D7-66B62FCAB05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2631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7A935-BB35-3E44-8457-83283EDFE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CDF36A-DD48-AF43-B910-5617776B7B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370032-4FD4-7C42-A53F-47FFE76ED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77A3CD-F2FA-7149-B185-D798BBABB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16.09.25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B94318-2CA8-8A48-9652-B995AA903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LE3.1 - Rechenzentren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0C262-646C-EA45-BBA5-237AA871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BCB3-4D98-684F-B8D7-66B62FCAB05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0458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3D7DD-77C9-D04C-A948-E604B713C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EBA678-2272-CC40-99F2-4456034A6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02C5B-6BEA-D449-A8A9-0645BBFCF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16.09.25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C069C-A3C8-A646-A102-50FBD8401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LE3.1 - Rechenzentren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F82EE-501D-6A40-993A-2786D2E91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BCB3-4D98-684F-B8D7-66B62FCAB05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96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551AAE-BF74-9641-916A-CBE4CA39AC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2E1D45-07DB-C34E-AABD-44747715F3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C9958-7BE5-E148-9523-CD270961A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16.09.25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25AD5-566E-AE48-A800-FA66490AE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LE3.1 - Rechenzentren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10AAF-3FEB-144E-B541-A46C27A56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BCB3-4D98-684F-B8D7-66B62FCAB05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5900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928414-D89F-244D-BFFC-E8DFEF8E0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85105-8BA4-714A-940C-3F2489863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E7756-BA71-3545-965A-0B47B27B0B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16.09.25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54061-2AD1-284C-AEFE-63CEF8CF07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LE3.1 - Rechenzentren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4B6C2-C12C-4544-8C33-04281B29A4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2BCB3-4D98-684F-B8D7-66B62FCAB05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812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D4677D2-D5AC-4CF9-9EED-2B89D0A1C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D54F7E-825A-4BBA-815F-35CCA8B97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80681"/>
            <a:ext cx="12192000" cy="277731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5A8620-DFC3-E946-A422-D9DF53A48E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" y="1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12191999" h="6842601">
                <a:moveTo>
                  <a:pt x="0" y="0"/>
                </a:moveTo>
                <a:lnTo>
                  <a:pt x="12191999" y="0"/>
                </a:lnTo>
                <a:lnTo>
                  <a:pt x="12191999" y="6842601"/>
                </a:lnTo>
                <a:lnTo>
                  <a:pt x="10316981" y="6842601"/>
                </a:lnTo>
                <a:cubicBezTo>
                  <a:pt x="10312796" y="6835189"/>
                  <a:pt x="10163183" y="6730124"/>
                  <a:pt x="10158998" y="6722712"/>
                </a:cubicBezTo>
                <a:cubicBezTo>
                  <a:pt x="10120278" y="6678190"/>
                  <a:pt x="10156462" y="6716223"/>
                  <a:pt x="10090349" y="6671420"/>
                </a:cubicBezTo>
                <a:cubicBezTo>
                  <a:pt x="10043032" y="6655694"/>
                  <a:pt x="9995855" y="6551879"/>
                  <a:pt x="9955425" y="6498018"/>
                </a:cubicBezTo>
                <a:cubicBezTo>
                  <a:pt x="9939618" y="6480021"/>
                  <a:pt x="9915110" y="6461677"/>
                  <a:pt x="9891265" y="6454528"/>
                </a:cubicBezTo>
                <a:cubicBezTo>
                  <a:pt x="9868239" y="6464957"/>
                  <a:pt x="9865423" y="6431640"/>
                  <a:pt x="9848227" y="6426063"/>
                </a:cubicBezTo>
                <a:cubicBezTo>
                  <a:pt x="9838059" y="6433162"/>
                  <a:pt x="9815047" y="6410348"/>
                  <a:pt x="9812354" y="6399604"/>
                </a:cubicBezTo>
                <a:cubicBezTo>
                  <a:pt x="9825285" y="6377997"/>
                  <a:pt x="9725923" y="6372757"/>
                  <a:pt x="9725915" y="6356381"/>
                </a:cubicBezTo>
                <a:cubicBezTo>
                  <a:pt x="9696279" y="6348066"/>
                  <a:pt x="9591199" y="6354143"/>
                  <a:pt x="9575033" y="6325258"/>
                </a:cubicBezTo>
                <a:cubicBezTo>
                  <a:pt x="9516434" y="6303128"/>
                  <a:pt x="9441613" y="6276805"/>
                  <a:pt x="9415626" y="6271777"/>
                </a:cubicBezTo>
                <a:cubicBezTo>
                  <a:pt x="9378293" y="6313495"/>
                  <a:pt x="9281935" y="6171365"/>
                  <a:pt x="9171493" y="6150430"/>
                </a:cubicBezTo>
                <a:cubicBezTo>
                  <a:pt x="9155426" y="6152396"/>
                  <a:pt x="9147439" y="6151015"/>
                  <a:pt x="9146018" y="6139864"/>
                </a:cubicBezTo>
                <a:cubicBezTo>
                  <a:pt x="9112029" y="6132441"/>
                  <a:pt x="9087339" y="6101138"/>
                  <a:pt x="9059635" y="6109957"/>
                </a:cubicBezTo>
                <a:cubicBezTo>
                  <a:pt x="9024424" y="6092144"/>
                  <a:pt x="9043048" y="6078417"/>
                  <a:pt x="9010911" y="6064789"/>
                </a:cubicBezTo>
                <a:lnTo>
                  <a:pt x="8866811" y="6028191"/>
                </a:lnTo>
                <a:cubicBezTo>
                  <a:pt x="8846465" y="6021172"/>
                  <a:pt x="8825221" y="6000527"/>
                  <a:pt x="8804584" y="5994237"/>
                </a:cubicBezTo>
                <a:lnTo>
                  <a:pt x="8783071" y="5990448"/>
                </a:lnTo>
                <a:lnTo>
                  <a:pt x="8770456" y="5978060"/>
                </a:lnTo>
                <a:cubicBezTo>
                  <a:pt x="8764772" y="5975259"/>
                  <a:pt x="8757695" y="5974720"/>
                  <a:pt x="8748297" y="5978070"/>
                </a:cubicBezTo>
                <a:cubicBezTo>
                  <a:pt x="8730344" y="5973495"/>
                  <a:pt x="8679808" y="5955894"/>
                  <a:pt x="8662742" y="5950603"/>
                </a:cubicBezTo>
                <a:lnTo>
                  <a:pt x="8645902" y="5946326"/>
                </a:lnTo>
                <a:lnTo>
                  <a:pt x="8638176" y="5938358"/>
                </a:lnTo>
                <a:cubicBezTo>
                  <a:pt x="8625897" y="5932642"/>
                  <a:pt x="8594811" y="5922073"/>
                  <a:pt x="8572224" y="5912032"/>
                </a:cubicBezTo>
                <a:cubicBezTo>
                  <a:pt x="8553809" y="5897782"/>
                  <a:pt x="8529845" y="5886100"/>
                  <a:pt x="8502655" y="5878114"/>
                </a:cubicBezTo>
                <a:cubicBezTo>
                  <a:pt x="8496990" y="5883034"/>
                  <a:pt x="8489611" y="5872566"/>
                  <a:pt x="8485159" y="5869819"/>
                </a:cubicBezTo>
                <a:cubicBezTo>
                  <a:pt x="8483457" y="5873482"/>
                  <a:pt x="8471232" y="5872664"/>
                  <a:pt x="8468539" y="5868711"/>
                </a:cubicBezTo>
                <a:cubicBezTo>
                  <a:pt x="8389167" y="5836352"/>
                  <a:pt x="8421742" y="5881497"/>
                  <a:pt x="8379810" y="5849376"/>
                </a:cubicBezTo>
                <a:cubicBezTo>
                  <a:pt x="8371729" y="5846373"/>
                  <a:pt x="8364483" y="5846766"/>
                  <a:pt x="8357758" y="5848601"/>
                </a:cubicBezTo>
                <a:lnTo>
                  <a:pt x="8315264" y="5836192"/>
                </a:lnTo>
                <a:cubicBezTo>
                  <a:pt x="8299077" y="5829531"/>
                  <a:pt x="8281671" y="5824011"/>
                  <a:pt x="8263455" y="5819793"/>
                </a:cubicBezTo>
                <a:cubicBezTo>
                  <a:pt x="8257386" y="5826849"/>
                  <a:pt x="8245582" y="5813448"/>
                  <a:pt x="8239287" y="5810141"/>
                </a:cubicBezTo>
                <a:cubicBezTo>
                  <a:pt x="8237965" y="5815186"/>
                  <a:pt x="8222226" y="5815108"/>
                  <a:pt x="8217888" y="5810039"/>
                </a:cubicBezTo>
                <a:cubicBezTo>
                  <a:pt x="8109447" y="5773303"/>
                  <a:pt x="8161302" y="5831037"/>
                  <a:pt x="8100547" y="5791517"/>
                </a:cubicBezTo>
                <a:cubicBezTo>
                  <a:pt x="8089574" y="5788167"/>
                  <a:pt x="8080448" y="5789295"/>
                  <a:pt x="8072316" y="5792309"/>
                </a:cubicBezTo>
                <a:lnTo>
                  <a:pt x="8056967" y="5800648"/>
                </a:lnTo>
                <a:lnTo>
                  <a:pt x="8047885" y="5795270"/>
                </a:lnTo>
                <a:cubicBezTo>
                  <a:pt x="8010204" y="5788738"/>
                  <a:pt x="7996426" y="5797608"/>
                  <a:pt x="7977128" y="5783189"/>
                </a:cubicBezTo>
                <a:cubicBezTo>
                  <a:pt x="7943466" y="5775577"/>
                  <a:pt x="7904823" y="5770953"/>
                  <a:pt x="7874392" y="5763715"/>
                </a:cubicBezTo>
                <a:cubicBezTo>
                  <a:pt x="7860337" y="5743777"/>
                  <a:pt x="7817541" y="5748989"/>
                  <a:pt x="7794543" y="5739759"/>
                </a:cubicBezTo>
                <a:cubicBezTo>
                  <a:pt x="7784688" y="5731467"/>
                  <a:pt x="7776709" y="5729004"/>
                  <a:pt x="7763762" y="5734031"/>
                </a:cubicBezTo>
                <a:cubicBezTo>
                  <a:pt x="7718781" y="5694154"/>
                  <a:pt x="7732231" y="5727368"/>
                  <a:pt x="7685889" y="5707234"/>
                </a:cubicBezTo>
                <a:cubicBezTo>
                  <a:pt x="7646521" y="5687607"/>
                  <a:pt x="7600389" y="5671470"/>
                  <a:pt x="7566744" y="5634586"/>
                </a:cubicBezTo>
                <a:cubicBezTo>
                  <a:pt x="7561306" y="5624813"/>
                  <a:pt x="7543589" y="5618525"/>
                  <a:pt x="7527170" y="5620542"/>
                </a:cubicBezTo>
                <a:cubicBezTo>
                  <a:pt x="7524343" y="5620889"/>
                  <a:pt x="7521664" y="5621475"/>
                  <a:pt x="7519214" y="5622280"/>
                </a:cubicBezTo>
                <a:cubicBezTo>
                  <a:pt x="7500062" y="5596964"/>
                  <a:pt x="7480476" y="5604337"/>
                  <a:pt x="7473157" y="5588143"/>
                </a:cubicBezTo>
                <a:cubicBezTo>
                  <a:pt x="7433415" y="5574859"/>
                  <a:pt x="7395118" y="5582388"/>
                  <a:pt x="7388000" y="5568063"/>
                </a:cubicBezTo>
                <a:cubicBezTo>
                  <a:pt x="7366403" y="5564920"/>
                  <a:pt x="7332262" y="5573848"/>
                  <a:pt x="7320876" y="5557698"/>
                </a:cubicBezTo>
                <a:cubicBezTo>
                  <a:pt x="7314891" y="5568111"/>
                  <a:pt x="7299319" y="5544964"/>
                  <a:pt x="7284480" y="5549820"/>
                </a:cubicBezTo>
                <a:cubicBezTo>
                  <a:pt x="7273570" y="5554430"/>
                  <a:pt x="7266301" y="5548483"/>
                  <a:pt x="7256619" y="5546379"/>
                </a:cubicBezTo>
                <a:cubicBezTo>
                  <a:pt x="7242503" y="5549088"/>
                  <a:pt x="7202543" y="5533379"/>
                  <a:pt x="7193112" y="5525289"/>
                </a:cubicBezTo>
                <a:cubicBezTo>
                  <a:pt x="7172259" y="5499151"/>
                  <a:pt x="7108617" y="5505485"/>
                  <a:pt x="7090943" y="5485177"/>
                </a:cubicBezTo>
                <a:cubicBezTo>
                  <a:pt x="7083637" y="5481419"/>
                  <a:pt x="7076140" y="5479148"/>
                  <a:pt x="7068566" y="5477809"/>
                </a:cubicBezTo>
                <a:lnTo>
                  <a:pt x="7023035" y="5476595"/>
                </a:lnTo>
                <a:lnTo>
                  <a:pt x="7001197" y="5476163"/>
                </a:lnTo>
                <a:cubicBezTo>
                  <a:pt x="7016126" y="5454256"/>
                  <a:pt x="6943549" y="5466815"/>
                  <a:pt x="6967472" y="5451057"/>
                </a:cubicBezTo>
                <a:cubicBezTo>
                  <a:pt x="6931240" y="5443544"/>
                  <a:pt x="6920843" y="5429649"/>
                  <a:pt x="6883334" y="5418880"/>
                </a:cubicBezTo>
                <a:lnTo>
                  <a:pt x="6742417" y="5386446"/>
                </a:lnTo>
                <a:cubicBezTo>
                  <a:pt x="6690532" y="5366095"/>
                  <a:pt x="6665174" y="5364632"/>
                  <a:pt x="6618315" y="5353085"/>
                </a:cubicBezTo>
                <a:cubicBezTo>
                  <a:pt x="6581698" y="5304210"/>
                  <a:pt x="6547395" y="5315779"/>
                  <a:pt x="6521050" y="5283194"/>
                </a:cubicBezTo>
                <a:cubicBezTo>
                  <a:pt x="6469114" y="5268862"/>
                  <a:pt x="6472597" y="5253957"/>
                  <a:pt x="6414460" y="5253832"/>
                </a:cubicBezTo>
                <a:lnTo>
                  <a:pt x="6362535" y="5220502"/>
                </a:lnTo>
                <a:cubicBezTo>
                  <a:pt x="6350866" y="5213881"/>
                  <a:pt x="6347641" y="5215777"/>
                  <a:pt x="6344443" y="5214103"/>
                </a:cubicBezTo>
                <a:lnTo>
                  <a:pt x="6343344" y="5210454"/>
                </a:lnTo>
                <a:lnTo>
                  <a:pt x="6333344" y="5205307"/>
                </a:lnTo>
                <a:lnTo>
                  <a:pt x="6315602" y="5193288"/>
                </a:lnTo>
                <a:lnTo>
                  <a:pt x="6310442" y="5192802"/>
                </a:lnTo>
                <a:lnTo>
                  <a:pt x="6280815" y="5177420"/>
                </a:lnTo>
                <a:lnTo>
                  <a:pt x="6279533" y="5178045"/>
                </a:lnTo>
                <a:cubicBezTo>
                  <a:pt x="6275980" y="5179097"/>
                  <a:pt x="6272084" y="5179212"/>
                  <a:pt x="6267362" y="5177370"/>
                </a:cubicBezTo>
                <a:cubicBezTo>
                  <a:pt x="6261796" y="5192470"/>
                  <a:pt x="6259530" y="5180933"/>
                  <a:pt x="6246095" y="5174167"/>
                </a:cubicBezTo>
                <a:lnTo>
                  <a:pt x="6155252" y="5161201"/>
                </a:lnTo>
                <a:lnTo>
                  <a:pt x="6148525" y="5158442"/>
                </a:lnTo>
                <a:lnTo>
                  <a:pt x="6148187" y="5158573"/>
                </a:lnTo>
                <a:cubicBezTo>
                  <a:pt x="6146292" y="5158370"/>
                  <a:pt x="6143916" y="5157611"/>
                  <a:pt x="6140686" y="5156032"/>
                </a:cubicBezTo>
                <a:lnTo>
                  <a:pt x="6136260" y="5153413"/>
                </a:lnTo>
                <a:lnTo>
                  <a:pt x="6123208" y="5148061"/>
                </a:lnTo>
                <a:lnTo>
                  <a:pt x="6117367" y="5147451"/>
                </a:lnTo>
                <a:lnTo>
                  <a:pt x="5957305" y="5146062"/>
                </a:lnTo>
                <a:cubicBezTo>
                  <a:pt x="5920540" y="5140405"/>
                  <a:pt x="5887096" y="5142015"/>
                  <a:pt x="5857259" y="5132052"/>
                </a:cubicBezTo>
                <a:cubicBezTo>
                  <a:pt x="5843335" y="5135303"/>
                  <a:pt x="5830921" y="5135493"/>
                  <a:pt x="5821375" y="5125606"/>
                </a:cubicBezTo>
                <a:cubicBezTo>
                  <a:pt x="5786501" y="5122615"/>
                  <a:pt x="5775399" y="5132648"/>
                  <a:pt x="5755916" y="5120171"/>
                </a:cubicBezTo>
                <a:cubicBezTo>
                  <a:pt x="5732132" y="5135438"/>
                  <a:pt x="5732735" y="5128211"/>
                  <a:pt x="5725007" y="5121437"/>
                </a:cubicBezTo>
                <a:lnTo>
                  <a:pt x="5723810" y="5120848"/>
                </a:lnTo>
                <a:lnTo>
                  <a:pt x="5720531" y="5123048"/>
                </a:lnTo>
                <a:lnTo>
                  <a:pt x="5714794" y="5123371"/>
                </a:lnTo>
                <a:lnTo>
                  <a:pt x="5700141" y="5120131"/>
                </a:lnTo>
                <a:lnTo>
                  <a:pt x="5694799" y="5118234"/>
                </a:lnTo>
                <a:cubicBezTo>
                  <a:pt x="5691058" y="5117179"/>
                  <a:pt x="5688491" y="5116804"/>
                  <a:pt x="5686627" y="5116903"/>
                </a:cubicBezTo>
                <a:lnTo>
                  <a:pt x="5686371" y="5117086"/>
                </a:lnTo>
                <a:lnTo>
                  <a:pt x="5678818" y="5115416"/>
                </a:lnTo>
                <a:cubicBezTo>
                  <a:pt x="5666199" y="5112102"/>
                  <a:pt x="5654035" y="5108410"/>
                  <a:pt x="5642547" y="5104511"/>
                </a:cubicBezTo>
                <a:cubicBezTo>
                  <a:pt x="5629444" y="5114945"/>
                  <a:pt x="5588783" y="5093343"/>
                  <a:pt x="5587979" y="5116963"/>
                </a:cubicBezTo>
                <a:cubicBezTo>
                  <a:pt x="5572317" y="5112380"/>
                  <a:pt x="5564904" y="5101292"/>
                  <a:pt x="5566635" y="5117158"/>
                </a:cubicBezTo>
                <a:cubicBezTo>
                  <a:pt x="5561375" y="5116079"/>
                  <a:pt x="5557787" y="5116811"/>
                  <a:pt x="5554952" y="5118417"/>
                </a:cubicBezTo>
                <a:lnTo>
                  <a:pt x="5554039" y="5119241"/>
                </a:lnTo>
                <a:lnTo>
                  <a:pt x="5514253" y="5109018"/>
                </a:lnTo>
                <a:lnTo>
                  <a:pt x="5492156" y="5099904"/>
                </a:lnTo>
                <a:lnTo>
                  <a:pt x="5480446" y="5096385"/>
                </a:lnTo>
                <a:lnTo>
                  <a:pt x="5477744" y="5092939"/>
                </a:lnTo>
                <a:cubicBezTo>
                  <a:pt x="5474490" y="5090581"/>
                  <a:pt x="5469391" y="5088951"/>
                  <a:pt x="5460150" y="5088988"/>
                </a:cubicBezTo>
                <a:lnTo>
                  <a:pt x="5457901" y="5089459"/>
                </a:lnTo>
                <a:lnTo>
                  <a:pt x="5444243" y="5082761"/>
                </a:lnTo>
                <a:cubicBezTo>
                  <a:pt x="5439993" y="5080007"/>
                  <a:pt x="5436418" y="5076805"/>
                  <a:pt x="5433825" y="5072992"/>
                </a:cubicBezTo>
                <a:cubicBezTo>
                  <a:pt x="5379442" y="5082090"/>
                  <a:pt x="5336110" y="5058382"/>
                  <a:pt x="5280996" y="5052402"/>
                </a:cubicBezTo>
                <a:cubicBezTo>
                  <a:pt x="5250806" y="5043777"/>
                  <a:pt x="5168599" y="5048109"/>
                  <a:pt x="5161582" y="5019668"/>
                </a:cubicBezTo>
                <a:cubicBezTo>
                  <a:pt x="5121870" y="5011383"/>
                  <a:pt x="5095637" y="5009222"/>
                  <a:pt x="5042717" y="5002692"/>
                </a:cubicBezTo>
                <a:cubicBezTo>
                  <a:pt x="4991136" y="4972487"/>
                  <a:pt x="4902282" y="4979360"/>
                  <a:pt x="4840514" y="4959306"/>
                </a:cubicBezTo>
                <a:cubicBezTo>
                  <a:pt x="4799904" y="4976415"/>
                  <a:pt x="4824087" y="4958371"/>
                  <a:pt x="4786778" y="4956661"/>
                </a:cubicBezTo>
                <a:cubicBezTo>
                  <a:pt x="4801901" y="4937231"/>
                  <a:pt x="4739845" y="4961208"/>
                  <a:pt x="4743741" y="4937104"/>
                </a:cubicBezTo>
                <a:cubicBezTo>
                  <a:pt x="4736829" y="4937557"/>
                  <a:pt x="4730010" y="4938753"/>
                  <a:pt x="4723136" y="4940138"/>
                </a:cubicBezTo>
                <a:lnTo>
                  <a:pt x="4719535" y="4940850"/>
                </a:lnTo>
                <a:lnTo>
                  <a:pt x="4706143" y="4939586"/>
                </a:lnTo>
                <a:lnTo>
                  <a:pt x="4701098" y="4944372"/>
                </a:lnTo>
                <a:lnTo>
                  <a:pt x="4680034" y="4946157"/>
                </a:lnTo>
                <a:cubicBezTo>
                  <a:pt x="4672339" y="4946029"/>
                  <a:pt x="4664292" y="4944964"/>
                  <a:pt x="4655740" y="4942396"/>
                </a:cubicBezTo>
                <a:cubicBezTo>
                  <a:pt x="4636359" y="4929384"/>
                  <a:pt x="4599700" y="4935346"/>
                  <a:pt x="4569298" y="4929596"/>
                </a:cubicBezTo>
                <a:lnTo>
                  <a:pt x="4555977" y="4924356"/>
                </a:lnTo>
                <a:lnTo>
                  <a:pt x="4508949" y="4921648"/>
                </a:lnTo>
                <a:cubicBezTo>
                  <a:pt x="4495668" y="4920437"/>
                  <a:pt x="4482007" y="4918694"/>
                  <a:pt x="4467838" y="4915993"/>
                </a:cubicBezTo>
                <a:lnTo>
                  <a:pt x="4441948" y="4909300"/>
                </a:lnTo>
                <a:lnTo>
                  <a:pt x="4394719" y="4901820"/>
                </a:lnTo>
                <a:lnTo>
                  <a:pt x="4356810" y="4905146"/>
                </a:lnTo>
                <a:lnTo>
                  <a:pt x="4222144" y="4909117"/>
                </a:lnTo>
                <a:cubicBezTo>
                  <a:pt x="4202488" y="4913903"/>
                  <a:pt x="4184742" y="4933491"/>
                  <a:pt x="4160481" y="4923474"/>
                </a:cubicBezTo>
                <a:cubicBezTo>
                  <a:pt x="4165854" y="4934564"/>
                  <a:pt x="4131661" y="4919946"/>
                  <a:pt x="4124879" y="4929303"/>
                </a:cubicBezTo>
                <a:cubicBezTo>
                  <a:pt x="4120895" y="4937086"/>
                  <a:pt x="4109593" y="4934464"/>
                  <a:pt x="4100114" y="4936007"/>
                </a:cubicBezTo>
                <a:cubicBezTo>
                  <a:pt x="4091835" y="4943256"/>
                  <a:pt x="4045978" y="4943549"/>
                  <a:pt x="4030957" y="4939826"/>
                </a:cubicBezTo>
                <a:cubicBezTo>
                  <a:pt x="3989825" y="4924453"/>
                  <a:pt x="3946860" y="4952050"/>
                  <a:pt x="3913764" y="4940618"/>
                </a:cubicBezTo>
                <a:cubicBezTo>
                  <a:pt x="3904534" y="4939906"/>
                  <a:pt x="3896577" y="4940543"/>
                  <a:pt x="3889457" y="4942017"/>
                </a:cubicBezTo>
                <a:lnTo>
                  <a:pt x="3871115" y="4948115"/>
                </a:lnTo>
                <a:lnTo>
                  <a:pt x="3869086" y="4953796"/>
                </a:lnTo>
                <a:lnTo>
                  <a:pt x="3856124" y="4955351"/>
                </a:lnTo>
                <a:lnTo>
                  <a:pt x="3835967" y="4964002"/>
                </a:lnTo>
                <a:cubicBezTo>
                  <a:pt x="3826465" y="4939857"/>
                  <a:pt x="3782586" y="4975947"/>
                  <a:pt x="3785910" y="4953998"/>
                </a:cubicBezTo>
                <a:cubicBezTo>
                  <a:pt x="3750785" y="4960085"/>
                  <a:pt x="3699033" y="4941571"/>
                  <a:pt x="3671085" y="4966563"/>
                </a:cubicBezTo>
                <a:cubicBezTo>
                  <a:pt x="3621255" y="4971431"/>
                  <a:pt x="3562637" y="4982991"/>
                  <a:pt x="3486928" y="4983204"/>
                </a:cubicBezTo>
                <a:cubicBezTo>
                  <a:pt x="3446030" y="4983424"/>
                  <a:pt x="3343460" y="4965124"/>
                  <a:pt x="3280956" y="4963864"/>
                </a:cubicBezTo>
                <a:cubicBezTo>
                  <a:pt x="3227193" y="4969510"/>
                  <a:pt x="3256481" y="4962609"/>
                  <a:pt x="3211563" y="4982704"/>
                </a:cubicBezTo>
                <a:cubicBezTo>
                  <a:pt x="3207119" y="4979549"/>
                  <a:pt x="3170070" y="4977192"/>
                  <a:pt x="3164681" y="4975408"/>
                </a:cubicBezTo>
                <a:lnTo>
                  <a:pt x="3127171" y="4968229"/>
                </a:lnTo>
                <a:lnTo>
                  <a:pt x="3096889" y="4965619"/>
                </a:lnTo>
                <a:cubicBezTo>
                  <a:pt x="3088441" y="4967572"/>
                  <a:pt x="3082883" y="4967054"/>
                  <a:pt x="3078620" y="4965444"/>
                </a:cubicBezTo>
                <a:lnTo>
                  <a:pt x="3074275" y="4962670"/>
                </a:lnTo>
                <a:lnTo>
                  <a:pt x="3036436" y="4957455"/>
                </a:lnTo>
                <a:lnTo>
                  <a:pt x="3031995" y="4958829"/>
                </a:lnTo>
                <a:lnTo>
                  <a:pt x="2994028" y="4956800"/>
                </a:lnTo>
                <a:cubicBezTo>
                  <a:pt x="2992299" y="4958944"/>
                  <a:pt x="2989407" y="4960397"/>
                  <a:pt x="2984001" y="4960444"/>
                </a:cubicBezTo>
                <a:cubicBezTo>
                  <a:pt x="2994191" y="4975446"/>
                  <a:pt x="2981386" y="4966249"/>
                  <a:pt x="2964542" y="4965062"/>
                </a:cubicBezTo>
                <a:cubicBezTo>
                  <a:pt x="2976613" y="4988096"/>
                  <a:pt x="2927627" y="4975618"/>
                  <a:pt x="2921274" y="4988440"/>
                </a:cubicBezTo>
                <a:cubicBezTo>
                  <a:pt x="2908629" y="4987050"/>
                  <a:pt x="2895476" y="4985998"/>
                  <a:pt x="2882111" y="4985411"/>
                </a:cubicBezTo>
                <a:lnTo>
                  <a:pt x="2874282" y="4985361"/>
                </a:lnTo>
                <a:cubicBezTo>
                  <a:pt x="2874237" y="4985437"/>
                  <a:pt x="2874193" y="4985514"/>
                  <a:pt x="2874147" y="4985591"/>
                </a:cubicBezTo>
                <a:cubicBezTo>
                  <a:pt x="2872492" y="4986074"/>
                  <a:pt x="2869935" y="4986243"/>
                  <a:pt x="2865932" y="4985999"/>
                </a:cubicBezTo>
                <a:lnTo>
                  <a:pt x="2860008" y="4985269"/>
                </a:lnTo>
                <a:lnTo>
                  <a:pt x="2844819" y="4985172"/>
                </a:lnTo>
                <a:lnTo>
                  <a:pt x="2839735" y="4986676"/>
                </a:lnTo>
                <a:lnTo>
                  <a:pt x="2837922" y="4989488"/>
                </a:lnTo>
                <a:lnTo>
                  <a:pt x="2836507" y="4989165"/>
                </a:lnTo>
                <a:cubicBezTo>
                  <a:pt x="2825749" y="4984209"/>
                  <a:pt x="2822382" y="4977089"/>
                  <a:pt x="2808859" y="4996804"/>
                </a:cubicBezTo>
                <a:cubicBezTo>
                  <a:pt x="2784233" y="4988767"/>
                  <a:pt x="2779499" y="5000786"/>
                  <a:pt x="2745907" y="5005126"/>
                </a:cubicBezTo>
                <a:cubicBezTo>
                  <a:pt x="2731796" y="4997536"/>
                  <a:pt x="2720518" y="5000295"/>
                  <a:pt x="2709519" y="5006333"/>
                </a:cubicBezTo>
                <a:cubicBezTo>
                  <a:pt x="2676766" y="5002878"/>
                  <a:pt x="2646981" y="5011377"/>
                  <a:pt x="2610212" y="5013529"/>
                </a:cubicBezTo>
                <a:cubicBezTo>
                  <a:pt x="2570359" y="5003730"/>
                  <a:pt x="2550109" y="5021491"/>
                  <a:pt x="2510814" y="5023713"/>
                </a:cubicBezTo>
                <a:cubicBezTo>
                  <a:pt x="2476639" y="5006722"/>
                  <a:pt x="2482834" y="5038639"/>
                  <a:pt x="2462736" y="5045398"/>
                </a:cubicBezTo>
                <a:lnTo>
                  <a:pt x="2457050" y="5046022"/>
                </a:lnTo>
                <a:lnTo>
                  <a:pt x="2442184" y="5043549"/>
                </a:lnTo>
                <a:lnTo>
                  <a:pt x="2436703" y="5041929"/>
                </a:lnTo>
                <a:cubicBezTo>
                  <a:pt x="2432888" y="5041072"/>
                  <a:pt x="2430299" y="5040830"/>
                  <a:pt x="2428451" y="5041027"/>
                </a:cubicBezTo>
                <a:lnTo>
                  <a:pt x="2420551" y="5039949"/>
                </a:lnTo>
                <a:cubicBezTo>
                  <a:pt x="2407700" y="5037296"/>
                  <a:pt x="2395274" y="5034239"/>
                  <a:pt x="2383501" y="5030941"/>
                </a:cubicBezTo>
                <a:cubicBezTo>
                  <a:pt x="2362992" y="5032521"/>
                  <a:pt x="2317884" y="5047662"/>
                  <a:pt x="2297493" y="5049431"/>
                </a:cubicBezTo>
                <a:lnTo>
                  <a:pt x="2261156" y="5041558"/>
                </a:lnTo>
                <a:lnTo>
                  <a:pt x="2200581" y="5024964"/>
                </a:lnTo>
                <a:lnTo>
                  <a:pt x="2198380" y="5025550"/>
                </a:lnTo>
                <a:lnTo>
                  <a:pt x="2116066" y="5019568"/>
                </a:lnTo>
                <a:cubicBezTo>
                  <a:pt x="2111600" y="5017036"/>
                  <a:pt x="2059664" y="5006071"/>
                  <a:pt x="2056754" y="5002394"/>
                </a:cubicBezTo>
                <a:cubicBezTo>
                  <a:pt x="2003393" y="5014336"/>
                  <a:pt x="1998298" y="5008800"/>
                  <a:pt x="1942916" y="5005703"/>
                </a:cubicBezTo>
                <a:cubicBezTo>
                  <a:pt x="1882138" y="4994708"/>
                  <a:pt x="1836966" y="4976630"/>
                  <a:pt x="1796717" y="4970423"/>
                </a:cubicBezTo>
                <a:cubicBezTo>
                  <a:pt x="1724075" y="4959337"/>
                  <a:pt x="1636218" y="4936339"/>
                  <a:pt x="1583222" y="4931235"/>
                </a:cubicBezTo>
                <a:cubicBezTo>
                  <a:pt x="1544265" y="4950469"/>
                  <a:pt x="1556109" y="4927628"/>
                  <a:pt x="1518821" y="4927872"/>
                </a:cubicBezTo>
                <a:cubicBezTo>
                  <a:pt x="1497291" y="4925112"/>
                  <a:pt x="1483221" y="4916728"/>
                  <a:pt x="1471837" y="4914678"/>
                </a:cubicBezTo>
                <a:lnTo>
                  <a:pt x="1450515" y="4915578"/>
                </a:lnTo>
                <a:lnTo>
                  <a:pt x="1437078" y="4915016"/>
                </a:lnTo>
                <a:lnTo>
                  <a:pt x="1432462" y="4920065"/>
                </a:lnTo>
                <a:lnTo>
                  <a:pt x="1411645" y="4922952"/>
                </a:lnTo>
                <a:cubicBezTo>
                  <a:pt x="1384856" y="4920079"/>
                  <a:pt x="1306656" y="4907389"/>
                  <a:pt x="1271729" y="4902828"/>
                </a:cubicBezTo>
                <a:cubicBezTo>
                  <a:pt x="1258697" y="4896954"/>
                  <a:pt x="1213546" y="4890036"/>
                  <a:pt x="1202076" y="4895589"/>
                </a:cubicBezTo>
                <a:cubicBezTo>
                  <a:pt x="1192059" y="4895561"/>
                  <a:pt x="1182171" y="4891311"/>
                  <a:pt x="1174670" y="4898040"/>
                </a:cubicBezTo>
                <a:cubicBezTo>
                  <a:pt x="1163701" y="4905820"/>
                  <a:pt x="1136874" y="4886643"/>
                  <a:pt x="1137035" y="4897965"/>
                </a:cubicBezTo>
                <a:cubicBezTo>
                  <a:pt x="1117838" y="4884693"/>
                  <a:pt x="1091386" y="4900421"/>
                  <a:pt x="1069882" y="4901859"/>
                </a:cubicBezTo>
                <a:cubicBezTo>
                  <a:pt x="1055589" y="4889467"/>
                  <a:pt x="1024570" y="4904705"/>
                  <a:pt x="980935" y="4900090"/>
                </a:cubicBezTo>
                <a:cubicBezTo>
                  <a:pt x="947614" y="4895538"/>
                  <a:pt x="913224" y="4886405"/>
                  <a:pt x="869960" y="4874547"/>
                </a:cubicBezTo>
                <a:cubicBezTo>
                  <a:pt x="819114" y="4845820"/>
                  <a:pt x="768074" y="4839770"/>
                  <a:pt x="721345" y="4828937"/>
                </a:cubicBezTo>
                <a:cubicBezTo>
                  <a:pt x="667944" y="4819060"/>
                  <a:pt x="698286" y="4848426"/>
                  <a:pt x="635428" y="4819153"/>
                </a:cubicBezTo>
                <a:cubicBezTo>
                  <a:pt x="626286" y="4826707"/>
                  <a:pt x="617638" y="4825980"/>
                  <a:pt x="604106" y="4819994"/>
                </a:cubicBezTo>
                <a:cubicBezTo>
                  <a:pt x="583276" y="4822237"/>
                  <a:pt x="539859" y="4835097"/>
                  <a:pt x="510451" y="4832608"/>
                </a:cubicBezTo>
                <a:cubicBezTo>
                  <a:pt x="489781" y="4829929"/>
                  <a:pt x="443867" y="4807857"/>
                  <a:pt x="427656" y="4805062"/>
                </a:cubicBezTo>
                <a:cubicBezTo>
                  <a:pt x="424088" y="4806479"/>
                  <a:pt x="419580" y="4809736"/>
                  <a:pt x="413184" y="4815837"/>
                </a:cubicBezTo>
                <a:cubicBezTo>
                  <a:pt x="387673" y="4805882"/>
                  <a:pt x="379855" y="4817328"/>
                  <a:pt x="341772" y="4818825"/>
                </a:cubicBezTo>
                <a:cubicBezTo>
                  <a:pt x="327795" y="4810179"/>
                  <a:pt x="314729" y="4811964"/>
                  <a:pt x="301266" y="4817000"/>
                </a:cubicBezTo>
                <a:cubicBezTo>
                  <a:pt x="265781" y="4810886"/>
                  <a:pt x="231017" y="4816794"/>
                  <a:pt x="189886" y="4815871"/>
                </a:cubicBezTo>
                <a:cubicBezTo>
                  <a:pt x="147910" y="4802917"/>
                  <a:pt x="121702" y="4818738"/>
                  <a:pt x="77762" y="4817675"/>
                </a:cubicBezTo>
                <a:cubicBezTo>
                  <a:pt x="38733" y="4795315"/>
                  <a:pt x="44308" y="4840244"/>
                  <a:pt x="8164" y="4835320"/>
                </a:cubicBezTo>
                <a:lnTo>
                  <a:pt x="0" y="4832771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485819-EDA8-4B4C-BD24-C1FB0AD6C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818" y="5234320"/>
            <a:ext cx="6931319" cy="752217"/>
          </a:xfrm>
        </p:spPr>
        <p:txBody>
          <a:bodyPr anchor="b">
            <a:normAutofit/>
          </a:bodyPr>
          <a:lstStyle/>
          <a:p>
            <a:pPr algn="l"/>
            <a:r>
              <a:rPr lang="de-DE" sz="3300" dirty="0">
                <a:solidFill>
                  <a:schemeClr val="tx2"/>
                </a:solidFill>
              </a:rPr>
              <a:t>Server- und RZ-Modell unterscheiden</a:t>
            </a:r>
          </a:p>
        </p:txBody>
      </p:sp>
    </p:spTree>
    <p:extLst>
      <p:ext uri="{BB962C8B-B14F-4D97-AF65-F5344CB8AC3E}">
        <p14:creationId xmlns:p14="http://schemas.microsoft.com/office/powerpoint/2010/main" val="1213999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E64C8-E2DC-D440-A9D0-1CD216DF8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tx2"/>
                </a:solidFill>
              </a:rPr>
              <a:t>On-</a:t>
            </a:r>
            <a:r>
              <a:rPr lang="de-DE" dirty="0" err="1">
                <a:solidFill>
                  <a:schemeClr val="tx2"/>
                </a:solidFill>
              </a:rPr>
              <a:t>premise</a:t>
            </a:r>
            <a:endParaRPr lang="de-DE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93BEB-39EF-6C48-A740-025D12BEA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b="1" dirty="0">
                <a:solidFill>
                  <a:schemeClr val="tx2"/>
                </a:solidFill>
              </a:rPr>
              <a:t>Beschreibung:</a:t>
            </a:r>
          </a:p>
          <a:p>
            <a:r>
              <a:rPr lang="de-DE" dirty="0">
                <a:solidFill>
                  <a:schemeClr val="tx2"/>
                </a:solidFill>
              </a:rPr>
              <a:t>IT-Infrastruktur (Server, Speicher, Software) wird im eigenen Unternehmen betrieben.</a:t>
            </a:r>
          </a:p>
          <a:p>
            <a:r>
              <a:rPr lang="de-DE" dirty="0">
                <a:solidFill>
                  <a:schemeClr val="tx2"/>
                </a:solidFill>
              </a:rPr>
              <a:t>Unternehmen ist selbst für Wartung, Sicherheit und Betrieb verantwortlich.</a:t>
            </a:r>
          </a:p>
          <a:p>
            <a:r>
              <a:rPr lang="de-DE" dirty="0">
                <a:solidFill>
                  <a:schemeClr val="tx2"/>
                </a:solidFill>
              </a:rPr>
              <a:t>Volle Kontrolle über Hard- und Software.</a:t>
            </a:r>
          </a:p>
          <a:p>
            <a:pPr marL="0" indent="0">
              <a:buNone/>
            </a:pPr>
            <a:endParaRPr lang="de-DE" dirty="0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BC977-00F3-184B-8115-E5515FDD7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16.09.25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F648E-6374-1C4B-91FA-844AB3275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LE3.1 - Rechenzentren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3CC89-BAD3-2644-A1B6-45F68215D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BCB3-4D98-684F-B8D7-66B62FCAB05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0843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2742-8A71-6F4B-8A4D-881E24B0D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tx2"/>
                </a:solidFill>
              </a:rPr>
              <a:t>On-</a:t>
            </a:r>
            <a:r>
              <a:rPr lang="de-DE" dirty="0" err="1">
                <a:solidFill>
                  <a:schemeClr val="tx2"/>
                </a:solidFill>
              </a:rPr>
              <a:t>premise</a:t>
            </a:r>
            <a:endParaRPr lang="de-DE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553B8-E210-1B49-BE2B-31FCAC922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>
                <a:solidFill>
                  <a:schemeClr val="tx2"/>
                </a:solidFill>
              </a:rPr>
              <a:t>Vorteile:</a:t>
            </a:r>
          </a:p>
          <a:p>
            <a:r>
              <a:rPr lang="de-DE" dirty="0">
                <a:solidFill>
                  <a:schemeClr val="tx2"/>
                </a:solidFill>
              </a:rPr>
              <a:t>Hohe Datensicherheit (bei guter Absicherung) durch volle Kontrolle.</a:t>
            </a:r>
          </a:p>
          <a:p>
            <a:r>
              <a:rPr lang="de-DE" dirty="0">
                <a:solidFill>
                  <a:schemeClr val="tx2"/>
                </a:solidFill>
              </a:rPr>
              <a:t>Anpassbarkeit der Systeme an individuelle Bedürfnisse.</a:t>
            </a:r>
          </a:p>
          <a:p>
            <a:pPr marL="0" indent="0">
              <a:buNone/>
            </a:pPr>
            <a:endParaRPr lang="de-DE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de-DE" b="1" dirty="0">
                <a:solidFill>
                  <a:schemeClr val="tx2"/>
                </a:solidFill>
              </a:rPr>
              <a:t>Nachteile:</a:t>
            </a:r>
          </a:p>
          <a:p>
            <a:r>
              <a:rPr lang="de-DE" dirty="0">
                <a:solidFill>
                  <a:schemeClr val="tx2"/>
                </a:solidFill>
              </a:rPr>
              <a:t>Hohe Anschaffungs- und Betriebskosten (Hardware, Strom, Personal).</a:t>
            </a:r>
          </a:p>
          <a:p>
            <a:r>
              <a:rPr lang="de-DE" dirty="0">
                <a:solidFill>
                  <a:schemeClr val="tx2"/>
                </a:solidFill>
              </a:rPr>
              <a:t>Wartungsaufwand und Fachpersonal notwendig.</a:t>
            </a:r>
          </a:p>
          <a:p>
            <a:endParaRPr lang="de-DE" dirty="0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FC8BF-5D67-7649-8419-2B7B74476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16.09.25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2BB87-824A-D244-BDA4-E57517D2D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LE3.1 - Rechenzentren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882B9-F486-254B-BDB0-72EC5AEBE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BCB3-4D98-684F-B8D7-66B62FCAB05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5897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5119C-10D2-6541-BE7B-E02FB23F4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tx2"/>
                </a:solidFill>
              </a:rPr>
              <a:t>Off-</a:t>
            </a:r>
            <a:r>
              <a:rPr lang="de-DE" dirty="0" err="1">
                <a:solidFill>
                  <a:schemeClr val="tx2"/>
                </a:solidFill>
              </a:rPr>
              <a:t>premise</a:t>
            </a:r>
            <a:r>
              <a:rPr lang="de-DE" dirty="0">
                <a:solidFill>
                  <a:schemeClr val="tx2"/>
                </a:solidFill>
              </a:rPr>
              <a:t> (Cloud-Computing)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76C4C-F546-904C-ACCF-EA14FA941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>
                <a:solidFill>
                  <a:schemeClr val="tx2"/>
                </a:solidFill>
              </a:rPr>
              <a:t>Beschreibung:</a:t>
            </a:r>
          </a:p>
          <a:p>
            <a:r>
              <a:rPr lang="de-DE" dirty="0">
                <a:solidFill>
                  <a:schemeClr val="tx2"/>
                </a:solidFill>
              </a:rPr>
              <a:t>IT-Dienste werden über das Internet von einem Cloud-Anbieter bereitgestellt.</a:t>
            </a:r>
          </a:p>
          <a:p>
            <a:r>
              <a:rPr lang="de-DE" dirty="0">
                <a:solidFill>
                  <a:schemeClr val="tx2"/>
                </a:solidFill>
              </a:rPr>
              <a:t>Ressourcen wie Speicher oder Rechenleistung sind skalierbar.</a:t>
            </a:r>
          </a:p>
          <a:p>
            <a:r>
              <a:rPr lang="de-DE" dirty="0">
                <a:solidFill>
                  <a:schemeClr val="tx2"/>
                </a:solidFill>
              </a:rPr>
              <a:t>Typische Anbieter: AWS, </a:t>
            </a:r>
            <a:r>
              <a:rPr lang="de-DE" dirty="0" err="1">
                <a:solidFill>
                  <a:schemeClr val="tx2"/>
                </a:solidFill>
              </a:rPr>
              <a:t>Azure</a:t>
            </a:r>
            <a:r>
              <a:rPr lang="de-DE" dirty="0">
                <a:solidFill>
                  <a:schemeClr val="tx2"/>
                </a:solidFill>
              </a:rPr>
              <a:t>, Google Cloud.</a:t>
            </a:r>
          </a:p>
          <a:p>
            <a:endParaRPr lang="de-DE" dirty="0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71DF2-C7E5-FC4D-B8C1-E85D66BFB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16.09.25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B9ABB-AA6E-FB48-A6C7-CEE4F3FFB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LE3.1 - Rechenzentren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DA906-B617-A442-A629-C2B3E2D44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BCB3-4D98-684F-B8D7-66B62FCAB052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8223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E5243-DF64-DD4E-9B83-C862A1869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tx2"/>
                </a:solidFill>
              </a:rPr>
              <a:t>Off-</a:t>
            </a:r>
            <a:r>
              <a:rPr lang="de-DE" dirty="0" err="1">
                <a:solidFill>
                  <a:schemeClr val="tx2"/>
                </a:solidFill>
              </a:rPr>
              <a:t>premise</a:t>
            </a:r>
            <a:r>
              <a:rPr lang="de-DE" dirty="0">
                <a:solidFill>
                  <a:schemeClr val="tx2"/>
                </a:solidFill>
              </a:rPr>
              <a:t> (Cloud-Computing)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44684-06A2-9E48-9E8C-2F5598426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>
                <a:solidFill>
                  <a:schemeClr val="tx2"/>
                </a:solidFill>
              </a:rPr>
              <a:t>Vorteile:</a:t>
            </a:r>
          </a:p>
          <a:p>
            <a:r>
              <a:rPr lang="de-DE" dirty="0">
                <a:solidFill>
                  <a:schemeClr val="tx2"/>
                </a:solidFill>
              </a:rPr>
              <a:t>Kosteneffizient (Zahlung nach Nutzung, keine Anschaffungskosten).</a:t>
            </a:r>
          </a:p>
          <a:p>
            <a:r>
              <a:rPr lang="de-DE" dirty="0">
                <a:solidFill>
                  <a:schemeClr val="tx2"/>
                </a:solidFill>
              </a:rPr>
              <a:t>Hohe Skalierbarkeit &amp; Flexibilität bei Lastspitzen. </a:t>
            </a:r>
          </a:p>
          <a:p>
            <a:endParaRPr lang="de-DE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de-DE" b="1" dirty="0">
                <a:solidFill>
                  <a:schemeClr val="tx2"/>
                </a:solidFill>
              </a:rPr>
              <a:t>Nachteile:</a:t>
            </a:r>
          </a:p>
          <a:p>
            <a:r>
              <a:rPr lang="de-DE" dirty="0">
                <a:solidFill>
                  <a:schemeClr val="tx2"/>
                </a:solidFill>
              </a:rPr>
              <a:t>Weniger Kontrolle über Daten &amp; Infrastruktur.</a:t>
            </a:r>
          </a:p>
          <a:p>
            <a:r>
              <a:rPr lang="de-DE" dirty="0">
                <a:solidFill>
                  <a:schemeClr val="tx2"/>
                </a:solidFill>
              </a:rPr>
              <a:t>Datenschutzrisiken bei sensiblen Daten (je nach Anbieterstandort).</a:t>
            </a:r>
          </a:p>
          <a:p>
            <a:endParaRPr lang="de-DE" dirty="0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9C657-5C82-F645-8A11-D750396AC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16.09.25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74094-9AD6-744A-BCC1-82EF70D2F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LE3.1 - Rechenzentren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EB5C3-0FE1-D14B-96D8-7CE877574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BCB3-4D98-684F-B8D7-66B62FCAB052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8535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2FC7E-CDCE-F24F-A527-A4C7EB8B9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>
                <a:solidFill>
                  <a:schemeClr val="tx2"/>
                </a:solidFill>
              </a:rPr>
              <a:t>Colocation</a:t>
            </a:r>
            <a:endParaRPr lang="de-DE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B3659-CB11-504D-B525-5311C59BA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>
                <a:solidFill>
                  <a:schemeClr val="tx2"/>
                </a:solidFill>
              </a:rPr>
              <a:t>Beschreibung:</a:t>
            </a:r>
          </a:p>
          <a:p>
            <a:r>
              <a:rPr lang="de-DE" dirty="0">
                <a:solidFill>
                  <a:schemeClr val="tx2"/>
                </a:solidFill>
              </a:rPr>
              <a:t>Eigene Server werden in einem externen Rechenzentrum betrieben.</a:t>
            </a:r>
          </a:p>
          <a:p>
            <a:r>
              <a:rPr lang="de-DE" dirty="0">
                <a:solidFill>
                  <a:schemeClr val="tx2"/>
                </a:solidFill>
              </a:rPr>
              <a:t>Unternehmen behält Hardware-Eigentum, nutzt aber fremde Infrastruktur (Strom, Kühlung, Internet).</a:t>
            </a:r>
          </a:p>
          <a:p>
            <a:r>
              <a:rPr lang="de-DE" dirty="0">
                <a:solidFill>
                  <a:schemeClr val="tx2"/>
                </a:solidFill>
              </a:rPr>
              <a:t>Mischung aus On-</a:t>
            </a:r>
            <a:r>
              <a:rPr lang="de-DE" dirty="0" err="1">
                <a:solidFill>
                  <a:schemeClr val="tx2"/>
                </a:solidFill>
              </a:rPr>
              <a:t>Premise</a:t>
            </a:r>
            <a:r>
              <a:rPr lang="de-DE" dirty="0">
                <a:solidFill>
                  <a:schemeClr val="tx2"/>
                </a:solidFill>
              </a:rPr>
              <a:t> und Cloud-Hosting.</a:t>
            </a:r>
          </a:p>
          <a:p>
            <a:pPr marL="0" indent="0">
              <a:buNone/>
            </a:pPr>
            <a:endParaRPr lang="de-DE" dirty="0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59672-C050-C64E-A23C-D0B9C0E69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16.09.25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C96A3-9F3B-6849-80DB-152F06176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LE3.1 - Rechenzentren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69829-912D-124E-9E0D-BFBAE2961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BCB3-4D98-684F-B8D7-66B62FCAB052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2410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22D86-042C-C744-A590-C4C21223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>
                <a:solidFill>
                  <a:schemeClr val="tx2"/>
                </a:solidFill>
              </a:rPr>
              <a:t>Colocation</a:t>
            </a:r>
            <a:endParaRPr lang="de-DE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F1153-3C31-F743-86AD-00EAA0404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>
                <a:solidFill>
                  <a:schemeClr val="tx2"/>
                </a:solidFill>
              </a:rPr>
              <a:t>Vorteile:</a:t>
            </a:r>
          </a:p>
          <a:p>
            <a:r>
              <a:rPr lang="de-DE" dirty="0">
                <a:solidFill>
                  <a:schemeClr val="tx2"/>
                </a:solidFill>
              </a:rPr>
              <a:t>Bessere Infrastruktur (klimatisierte Rechenzentren, Ausfallsicherheit).</a:t>
            </a:r>
          </a:p>
          <a:p>
            <a:r>
              <a:rPr lang="de-DE" dirty="0">
                <a:solidFill>
                  <a:schemeClr val="tx2"/>
                </a:solidFill>
              </a:rPr>
              <a:t>Volle Kontrolle über eigene Hardware, aber kein Aufwand für Raum/Betrieb.</a:t>
            </a:r>
          </a:p>
          <a:p>
            <a:pPr marL="0" indent="0">
              <a:buNone/>
            </a:pPr>
            <a:endParaRPr lang="de-DE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de-DE" b="1" dirty="0">
                <a:solidFill>
                  <a:schemeClr val="tx2"/>
                </a:solidFill>
              </a:rPr>
              <a:t>Nachteile:</a:t>
            </a:r>
          </a:p>
          <a:p>
            <a:r>
              <a:rPr lang="de-DE" dirty="0">
                <a:solidFill>
                  <a:schemeClr val="tx2"/>
                </a:solidFill>
              </a:rPr>
              <a:t>Kosten für Stellfläche &amp; Wartung durch externen Anbieter.</a:t>
            </a:r>
          </a:p>
          <a:p>
            <a:r>
              <a:rPr lang="de-DE" dirty="0">
                <a:solidFill>
                  <a:schemeClr val="tx2"/>
                </a:solidFill>
              </a:rPr>
              <a:t>Anfahrt notwendig bei physischem Zugriff auf Hardware.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95F29-AC7F-9F4D-A183-B0A4CF6AE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16.09.25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70461-E511-804D-BC23-E6D1E1EC3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LE3.1 - Rechenzentren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57AD6-0F7F-A447-BCB8-8F3EF6BF6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2BCB3-4D98-684F-B8D7-66B62FCAB052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0914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86</Words>
  <Application>Microsoft Macintosh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Server- und RZ-Modell unterscheiden</vt:lpstr>
      <vt:lpstr>On-premise</vt:lpstr>
      <vt:lpstr>On-premise</vt:lpstr>
      <vt:lpstr>Off-premise (Cloud-Computing)</vt:lpstr>
      <vt:lpstr>Off-premise (Cloud-Computing)</vt:lpstr>
      <vt:lpstr>Colocation</vt:lpstr>
      <vt:lpstr>Colocation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Server- und RZ-Modell unterscheiden</dc:title>
  <dc:creator>Florian Lenkeit</dc:creator>
  <cp:lastModifiedBy>Florian Lenkeit</cp:lastModifiedBy>
  <cp:revision>2</cp:revision>
  <dcterms:created xsi:type="dcterms:W3CDTF">2025-09-15T19:49:56Z</dcterms:created>
  <dcterms:modified xsi:type="dcterms:W3CDTF">2025-09-15T20:03:36Z</dcterms:modified>
</cp:coreProperties>
</file>