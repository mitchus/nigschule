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37FF"/>
    <a:srgbClr val="660065"/>
    <a:srgbClr val="165FFF"/>
    <a:srgbClr val="009051"/>
    <a:srgbClr val="ED702D"/>
    <a:srgbClr val="3E0FFF"/>
    <a:srgbClr val="09D2FF"/>
    <a:srgbClr val="06FFF2"/>
    <a:srgbClr val="29FF08"/>
    <a:srgbClr val="0FFF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3"/>
    <p:restoredTop sz="94615"/>
  </p:normalViewPr>
  <p:slideViewPr>
    <p:cSldViewPr snapToGrid="0" snapToObjects="1">
      <p:cViewPr varScale="1">
        <p:scale>
          <a:sx n="136" d="100"/>
          <a:sy n="136" d="100"/>
        </p:scale>
        <p:origin x="86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F1B16-9539-C14A-B2D6-C21080C5C112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2DA97-DC84-8249-80F4-5B1D0A9D9C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31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2DA97-DC84-8249-80F4-5B1D0A9D9C2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012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96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83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20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321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60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54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75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968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14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001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06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423A3-DC40-694D-83ED-20CC2B0B711E}" type="datetimeFigureOut">
              <a:rPr lang="de-DE" smtClean="0"/>
              <a:t>21.08.24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5F1CC-B9B7-744B-B066-754D7F67F3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297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hyperlink" Target="https://studyflix.de/allgemeinwissen/werte-und-normen-4302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einz Eduard Tödt (1918–1991). Foto: kna">
            <a:extLst>
              <a:ext uri="{FF2B5EF4-FFF2-40B4-BE49-F238E27FC236}">
                <a16:creationId xmlns:a16="http://schemas.microsoft.com/office/drawing/2014/main" id="{E55B6FF6-4D7C-F4F4-3561-B37A48E22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3477" y="-59203"/>
            <a:ext cx="11010953" cy="697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2786597" y="52933"/>
            <a:ext cx="3276000" cy="450000"/>
          </a:xfrm>
          <a:prstGeom prst="rect">
            <a:avLst/>
          </a:prstGeom>
          <a:solidFill>
            <a:srgbClr val="FF0000"/>
          </a:solidFill>
          <a:effectLst>
            <a:glow>
              <a:schemeClr val="accent1">
                <a:alpha val="40000"/>
              </a:schemeClr>
            </a:glow>
            <a:outerShdw blurRad="50800" dist="50800" algn="ctr" rotWithShape="0">
              <a:srgbClr val="000000">
                <a:alpha val="43137"/>
              </a:srgbClr>
            </a:outerShdw>
            <a:softEdge rad="76200"/>
          </a:effectLst>
          <a:scene3d>
            <a:camera prst="orthographicFront">
              <a:rot lat="0" lon="0" rev="0"/>
            </a:camera>
            <a:lightRig rig="threePt" dir="t"/>
          </a:scene3d>
          <a:sp3d/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Trebuchet MS"/>
                <a:cs typeface="Trebuchet MS"/>
              </a:rPr>
              <a:t>1. Feststellung des Problems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0" y="1415292"/>
            <a:ext cx="3240000" cy="648000"/>
          </a:xfrm>
          <a:prstGeom prst="rect">
            <a:avLst/>
          </a:prstGeom>
          <a:solidFill>
            <a:srgbClr val="660065"/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Trebuchet MS"/>
                <a:cs typeface="Trebuchet MS"/>
              </a:rPr>
              <a:t>6. Prüfung der Angemessenheit des Urteils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19" y="3285656"/>
            <a:ext cx="3276000" cy="450000"/>
          </a:xfrm>
          <a:prstGeom prst="rect">
            <a:avLst/>
          </a:prstGeom>
          <a:solidFill>
            <a:srgbClr val="6B37FF"/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Trebuchet MS"/>
                <a:cs typeface="Trebuchet MS"/>
              </a:rPr>
              <a:t>5. Urteilsentscheid</a:t>
            </a:r>
          </a:p>
        </p:txBody>
      </p:sp>
      <p:sp>
        <p:nvSpPr>
          <p:cNvPr id="8" name="Textfeld 7">
            <a:hlinkClick r:id="rId4"/>
          </p:cNvPr>
          <p:cNvSpPr txBox="1"/>
          <p:nvPr/>
        </p:nvSpPr>
        <p:spPr>
          <a:xfrm>
            <a:off x="2476241" y="5264961"/>
            <a:ext cx="3276000" cy="450000"/>
          </a:xfrm>
          <a:prstGeom prst="rect">
            <a:avLst/>
          </a:prstGeom>
          <a:solidFill>
            <a:srgbClr val="165FFF"/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Trebuchet MS"/>
                <a:cs typeface="Trebuchet MS"/>
              </a:rPr>
              <a:t>4. Prüfung der Normen</a:t>
            </a:r>
          </a:p>
        </p:txBody>
      </p:sp>
      <p:sp>
        <p:nvSpPr>
          <p:cNvPr id="9" name="Textfeld 8"/>
          <p:cNvSpPr txBox="1">
            <a:spLocks/>
          </p:cNvSpPr>
          <p:nvPr/>
        </p:nvSpPr>
        <p:spPr>
          <a:xfrm>
            <a:off x="5804166" y="4145646"/>
            <a:ext cx="3276000" cy="720000"/>
          </a:xfrm>
          <a:prstGeom prst="rect">
            <a:avLst/>
          </a:prstGeom>
          <a:solidFill>
            <a:srgbClr val="009051"/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Trebuchet MS"/>
                <a:cs typeface="Trebuchet MS"/>
              </a:rPr>
              <a:t>3. Erörterung der Verhaltensalternativen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5868000" y="1378419"/>
            <a:ext cx="3276000" cy="720000"/>
          </a:xfrm>
          <a:prstGeom prst="rect">
            <a:avLst/>
          </a:prstGeom>
          <a:solidFill>
            <a:srgbClr val="ED702D"/>
          </a:solidFill>
          <a:effectLst>
            <a:outerShdw blurRad="381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Trebuchet MS"/>
                <a:cs typeface="Trebuchet MS"/>
              </a:rPr>
              <a:t>2. Analyse des Sachverhalts oder der Situation</a:t>
            </a:r>
          </a:p>
        </p:txBody>
      </p:sp>
      <p:sp>
        <p:nvSpPr>
          <p:cNvPr id="12" name="Textfeld 11"/>
          <p:cNvSpPr txBox="1">
            <a:spLocks/>
          </p:cNvSpPr>
          <p:nvPr/>
        </p:nvSpPr>
        <p:spPr>
          <a:xfrm>
            <a:off x="6638465" y="28425"/>
            <a:ext cx="2484000" cy="540000"/>
          </a:xfrm>
          <a:prstGeom prst="rect">
            <a:avLst/>
          </a:prstGeom>
          <a:solidFill>
            <a:srgbClr val="FF0000">
              <a:alpha val="67000"/>
            </a:srgbClr>
          </a:solidFill>
          <a:effectLst>
            <a:outerShdw blurRad="50800" dist="50800" dir="5400000" algn="ctr" rotWithShape="0">
              <a:srgbClr val="000000"/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1200" dirty="0">
                <a:solidFill>
                  <a:schemeClr val="bg1"/>
                </a:solidFill>
                <a:latin typeface="Trebuchet MS"/>
                <a:cs typeface="Trebuchet MS"/>
              </a:rPr>
              <a:t>Worin liegt im vorliegenden Fall das ethische Problem?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5858166" y="4851216"/>
            <a:ext cx="3168000" cy="738664"/>
          </a:xfrm>
          <a:prstGeom prst="rect">
            <a:avLst/>
          </a:prstGeom>
          <a:solidFill>
            <a:srgbClr val="009051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4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Die realisierbaren Handlungs-alternativen werden analysiert.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6677381" y="5570090"/>
            <a:ext cx="2484000" cy="540000"/>
          </a:xfrm>
          <a:prstGeom prst="rect">
            <a:avLst/>
          </a:prstGeom>
          <a:solidFill>
            <a:srgbClr val="009051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2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Verhaltensalternativen für eine Entscheidung benennen.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2537688" y="5686883"/>
            <a:ext cx="3168000" cy="864000"/>
          </a:xfrm>
          <a:prstGeom prst="rect">
            <a:avLst/>
          </a:prstGeom>
          <a:solidFill>
            <a:srgbClr val="165FFF">
              <a:alpha val="67000"/>
            </a:srgbClr>
          </a:solidFill>
          <a:effectLst>
            <a:outerShdw blurRad="50800" dist="50800" dir="5400000" algn="ctr" rotWithShape="0">
              <a:srgbClr val="000000"/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4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Normen beurteilen Verhaltens-alternativen und ermöglichen eine begründete Entscheidung.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-22264" y="5852257"/>
            <a:ext cx="2484000" cy="540000"/>
          </a:xfrm>
          <a:prstGeom prst="rect">
            <a:avLst/>
          </a:prstGeom>
          <a:solidFill>
            <a:srgbClr val="165FFF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2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Es wird festgehalten, welche Normen als verpflichtend gelten.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-14999" y="6333388"/>
            <a:ext cx="2484000" cy="540000"/>
          </a:xfrm>
          <a:prstGeom prst="rect">
            <a:avLst/>
          </a:prstGeom>
          <a:solidFill>
            <a:srgbClr val="165FFF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2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Die Verhaltensalternativen werden an den Normen geprüft.</a:t>
            </a:r>
          </a:p>
        </p:txBody>
      </p:sp>
      <p:cxnSp>
        <p:nvCxnSpPr>
          <p:cNvPr id="31" name="Gerade Verbindung mit Pfeil 30"/>
          <p:cNvCxnSpPr>
            <a:cxnSpLocks/>
            <a:stCxn id="5" idx="2"/>
            <a:endCxn id="10" idx="0"/>
          </p:cNvCxnSpPr>
          <p:nvPr/>
        </p:nvCxnSpPr>
        <p:spPr>
          <a:xfrm>
            <a:off x="4424597" y="502933"/>
            <a:ext cx="3081403" cy="875486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>
            <a:glow>
              <a:schemeClr val="accent1">
                <a:alpha val="40000"/>
              </a:schemeClr>
            </a:glow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cxnSpLocks/>
            <a:stCxn id="10" idx="2"/>
            <a:endCxn id="9" idx="0"/>
          </p:cNvCxnSpPr>
          <p:nvPr/>
        </p:nvCxnSpPr>
        <p:spPr>
          <a:xfrm flipH="1">
            <a:off x="7442166" y="2098419"/>
            <a:ext cx="63834" cy="2047227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cxnSpLocks/>
          </p:cNvCxnSpPr>
          <p:nvPr/>
        </p:nvCxnSpPr>
        <p:spPr>
          <a:xfrm flipH="1" flipV="1">
            <a:off x="1626790" y="3658782"/>
            <a:ext cx="831194" cy="185472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cxnSpLocks/>
            <a:stCxn id="9" idx="1"/>
          </p:cNvCxnSpPr>
          <p:nvPr/>
        </p:nvCxnSpPr>
        <p:spPr>
          <a:xfrm flipH="1">
            <a:off x="4056688" y="4505646"/>
            <a:ext cx="1747478" cy="78250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cxnSpLocks/>
            <a:endCxn id="28" idx="0"/>
          </p:cNvCxnSpPr>
          <p:nvPr/>
        </p:nvCxnSpPr>
        <p:spPr>
          <a:xfrm flipV="1">
            <a:off x="1603751" y="1996379"/>
            <a:ext cx="23039" cy="134300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cxnSpLocks/>
          </p:cNvCxnSpPr>
          <p:nvPr/>
        </p:nvCxnSpPr>
        <p:spPr>
          <a:xfrm flipV="1">
            <a:off x="1862406" y="450244"/>
            <a:ext cx="901198" cy="99900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6B5EEEB1-0791-8548-BD61-FA2B9FCF8FA2}"/>
              </a:ext>
            </a:extLst>
          </p:cNvPr>
          <p:cNvCxnSpPr>
            <a:cxnSpLocks/>
          </p:cNvCxnSpPr>
          <p:nvPr/>
        </p:nvCxnSpPr>
        <p:spPr>
          <a:xfrm flipV="1">
            <a:off x="2482559" y="5228064"/>
            <a:ext cx="3395909" cy="141271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  <a:alpha val="67000"/>
              </a:schemeClr>
            </a:solidFill>
            <a:headEnd type="arrow"/>
            <a:tailEnd type="arrow"/>
          </a:ln>
          <a:effectLst>
            <a:outerShdw blurRad="40000" dist="508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rafik 48" descr="Hilfe mit einfarbiger Füllung">
            <a:extLst>
              <a:ext uri="{FF2B5EF4-FFF2-40B4-BE49-F238E27FC236}">
                <a16:creationId xmlns:a16="http://schemas.microsoft.com/office/drawing/2014/main" id="{3F3C0ED6-FE28-EE1B-8853-95E6A65BED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153" y="291550"/>
            <a:ext cx="684000" cy="684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1" name="Textfeld 10"/>
          <p:cNvSpPr txBox="1"/>
          <p:nvPr/>
        </p:nvSpPr>
        <p:spPr>
          <a:xfrm>
            <a:off x="2868596" y="464893"/>
            <a:ext cx="3168000" cy="792000"/>
          </a:xfrm>
          <a:prstGeom prst="rect">
            <a:avLst/>
          </a:prstGeom>
          <a:solidFill>
            <a:srgbClr val="FF0000">
              <a:alpha val="67000"/>
            </a:srgbClr>
          </a:solidFill>
          <a:effectLst>
            <a:outerShdw blurRad="50800" dist="50800" dir="5400000" algn="ctr" rotWithShape="0">
              <a:srgbClr val="000000"/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1400" dirty="0">
                <a:solidFill>
                  <a:schemeClr val="bg1"/>
                </a:solidFill>
                <a:latin typeface="Trebuchet MS"/>
                <a:cs typeface="Trebuchet MS"/>
              </a:rPr>
              <a:t>Die ethische Fragestellung oder Herausforderung ist so genau wie möglich zu bestimmen.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3208259" y="2341773"/>
            <a:ext cx="2739146" cy="2185214"/>
          </a:xfrm>
          <a:prstGeom prst="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spAutoFit/>
          </a:bodyPr>
          <a:lstStyle/>
          <a:p>
            <a:pPr algn="ctr"/>
            <a:endParaRPr lang="de-DE" sz="1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  <a:p>
            <a:pPr algn="ctr"/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Heinz Eduard </a:t>
            </a:r>
            <a:r>
              <a:rPr lang="de-D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Tödt</a:t>
            </a:r>
            <a:br>
              <a:rPr lang="de-DE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</a:br>
            <a:endParaRPr lang="de-DE" sz="30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  <a:p>
            <a:pPr algn="ctr"/>
            <a:endParaRPr lang="de-DE" sz="30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  <a:p>
            <a:pPr algn="ctr"/>
            <a:endParaRPr lang="de-DE" sz="2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  <a:p>
            <a:pPr algn="ctr"/>
            <a:endParaRPr lang="de-DE" sz="2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5904051" y="2085298"/>
            <a:ext cx="3168000" cy="792000"/>
          </a:xfrm>
          <a:prstGeom prst="rect">
            <a:avLst/>
          </a:prstGeom>
          <a:solidFill>
            <a:srgbClr val="ED702D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1400" dirty="0">
                <a:solidFill>
                  <a:schemeClr val="bg1"/>
                </a:solidFill>
                <a:latin typeface="Trebuchet MS"/>
                <a:cs typeface="Trebuchet MS"/>
              </a:rPr>
              <a:t>Rahmenbedingungen und Faktoren, die auf die Situation einwirken, sind zu benennen.</a:t>
            </a:r>
          </a:p>
        </p:txBody>
      </p:sp>
      <p:pic>
        <p:nvPicPr>
          <p:cNvPr id="34" name="Grafik 33" descr="Warnung mit einfarbiger Füllung">
            <a:extLst>
              <a:ext uri="{FF2B5EF4-FFF2-40B4-BE49-F238E27FC236}">
                <a16:creationId xmlns:a16="http://schemas.microsoft.com/office/drawing/2014/main" id="{0B9ADBCC-C22D-79EF-AD98-47A1A327E8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5913" y="3144322"/>
            <a:ext cx="684000" cy="684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35" name="Grafik 34" descr="Warnung mit einfarbiger Füllung">
            <a:extLst>
              <a:ext uri="{FF2B5EF4-FFF2-40B4-BE49-F238E27FC236}">
                <a16:creationId xmlns:a16="http://schemas.microsoft.com/office/drawing/2014/main" id="{26F99762-B168-B9AD-2FC4-00E5009B7A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8165" y="5854104"/>
            <a:ext cx="684000" cy="684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37" name="Grafik 36" descr="Warnung mit einfarbiger Füllung">
            <a:extLst>
              <a:ext uri="{FF2B5EF4-FFF2-40B4-BE49-F238E27FC236}">
                <a16:creationId xmlns:a16="http://schemas.microsoft.com/office/drawing/2014/main" id="{52906FB8-C2E5-3D88-16D5-8E80F60762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4836" y="4436675"/>
            <a:ext cx="684000" cy="684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7" name="Textfeld 26"/>
          <p:cNvSpPr txBox="1"/>
          <p:nvPr/>
        </p:nvSpPr>
        <p:spPr>
          <a:xfrm>
            <a:off x="21804" y="3679319"/>
            <a:ext cx="3168000" cy="737999"/>
          </a:xfrm>
          <a:prstGeom prst="rect">
            <a:avLst/>
          </a:prstGeom>
          <a:solidFill>
            <a:srgbClr val="6B37FF">
              <a:alpha val="67000"/>
            </a:srgbClr>
          </a:solidFill>
          <a:effectLst>
            <a:outerShdw blurRad="50800" dist="50800" dir="5400000" algn="ctr" rotWithShape="0">
              <a:srgbClr val="000000"/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4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Die vorangegangenen Schritte führen zu einem Urteil.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42790" y="1996379"/>
            <a:ext cx="3168000" cy="1080000"/>
          </a:xfrm>
          <a:prstGeom prst="rect">
            <a:avLst/>
          </a:prstGeom>
          <a:solidFill>
            <a:srgbClr val="660065">
              <a:alpha val="67000"/>
            </a:srgbClr>
          </a:solidFill>
          <a:effectLst>
            <a:outerShdw blurRad="50800" dist="50800" dir="5400000" algn="ctr" rotWithShape="0">
              <a:srgbClr val="000000"/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4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Mit der Entscheidung ist das Urteil nicht abgeschlossen.</a:t>
            </a:r>
            <a:br>
              <a:rPr lang="de-DE" dirty="0"/>
            </a:br>
            <a:r>
              <a:rPr lang="de-DE" dirty="0"/>
              <a:t>Es muss immer wieder geprüft werden, ob es noch angemessen ist.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5AA09705-0550-1B1A-9221-3137700C84BF}"/>
              </a:ext>
            </a:extLst>
          </p:cNvPr>
          <p:cNvSpPr txBox="1"/>
          <p:nvPr/>
        </p:nvSpPr>
        <p:spPr>
          <a:xfrm>
            <a:off x="6675001" y="6100778"/>
            <a:ext cx="2484000" cy="792000"/>
          </a:xfrm>
          <a:prstGeom prst="rect">
            <a:avLst/>
          </a:prstGeom>
          <a:solidFill>
            <a:srgbClr val="009051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2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Durchführung, Motive, Ziele und Folgen von Verhaltens-alternativen durchleuchten.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6638465" y="2850524"/>
            <a:ext cx="2484000" cy="756000"/>
          </a:xfrm>
          <a:prstGeom prst="rect">
            <a:avLst/>
          </a:prstGeom>
          <a:solidFill>
            <a:srgbClr val="ED702D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1200" dirty="0">
                <a:solidFill>
                  <a:schemeClr val="bg1"/>
                </a:solidFill>
                <a:latin typeface="Trebuchet MS"/>
                <a:cs typeface="Trebuchet MS"/>
              </a:rPr>
              <a:t>Eine ethische Entscheidung </a:t>
            </a:r>
            <a:r>
              <a:rPr lang="de-DE" sz="1200" dirty="0" err="1">
                <a:solidFill>
                  <a:schemeClr val="bg1"/>
                </a:solidFill>
                <a:latin typeface="Trebuchet MS"/>
                <a:cs typeface="Trebuchet MS"/>
              </a:rPr>
              <a:t>be</a:t>
            </a:r>
            <a:r>
              <a:rPr lang="de-DE" sz="1200" dirty="0">
                <a:solidFill>
                  <a:schemeClr val="bg1"/>
                </a:solidFill>
                <a:latin typeface="Trebuchet MS"/>
                <a:cs typeface="Trebuchet MS"/>
              </a:rPr>
              <a:t>-darf einer möglichst umfang-reichen Sachverhaltsanalyse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6638465" y="3589653"/>
            <a:ext cx="2484000" cy="540000"/>
          </a:xfrm>
          <a:prstGeom prst="rect">
            <a:avLst/>
          </a:prstGeom>
          <a:solidFill>
            <a:srgbClr val="ED702D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1200" dirty="0">
                <a:solidFill>
                  <a:schemeClr val="bg1"/>
                </a:solidFill>
                <a:latin typeface="Trebuchet MS"/>
                <a:cs typeface="Trebuchet MS"/>
              </a:rPr>
              <a:t>Abhängigkeiten und Einflüsse werden erkannt und beschrieben.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6660000" y="552078"/>
            <a:ext cx="2484000" cy="756000"/>
          </a:xfrm>
          <a:prstGeom prst="rect">
            <a:avLst/>
          </a:prstGeom>
          <a:solidFill>
            <a:srgbClr val="FF0000">
              <a:alpha val="67000"/>
            </a:srgbClr>
          </a:solidFill>
          <a:effectLst>
            <a:outerShdw blurRad="50800" dist="50800" dir="5400000" algn="ctr" rotWithShape="0">
              <a:srgbClr val="000000"/>
            </a:outerShdw>
            <a:softEdge rad="7620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1200" dirty="0">
                <a:solidFill>
                  <a:schemeClr val="bg1"/>
                </a:solidFill>
                <a:latin typeface="Trebuchet MS"/>
                <a:cs typeface="Trebuchet MS"/>
              </a:rPr>
              <a:t>Ist das Problem ein ethisches ist oder kann es mit Fachkompetenz oder Sachwissen gelöst werden?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-26016" y="5135503"/>
            <a:ext cx="2484000" cy="756000"/>
          </a:xfrm>
          <a:prstGeom prst="rect">
            <a:avLst/>
          </a:prstGeom>
          <a:solidFill>
            <a:srgbClr val="165FFF">
              <a:alpha val="67000"/>
            </a:srgbClr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noAutofit/>
          </a:bodyPr>
          <a:lstStyle>
            <a:defPPr>
              <a:defRPr lang="de-DE"/>
            </a:defPPr>
            <a:lvl1pPr algn="ctr">
              <a:defRPr sz="120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de-DE" dirty="0"/>
              <a:t>Bekannten Normen, die für das Problem relevant sind, werden gesucht.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60C0579-0268-29AE-F5C8-1BDF9EE9AD86}"/>
              </a:ext>
            </a:extLst>
          </p:cNvPr>
          <p:cNvSpPr txBox="1"/>
          <p:nvPr/>
        </p:nvSpPr>
        <p:spPr>
          <a:xfrm>
            <a:off x="3202613" y="2436723"/>
            <a:ext cx="2739146" cy="2000548"/>
          </a:xfrm>
          <a:prstGeom prst="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000000">
                <a:alpha val="43137"/>
              </a:srgbClr>
            </a:outerShdw>
            <a:softEdge rad="76200"/>
          </a:effectLst>
        </p:spPr>
        <p:txBody>
          <a:bodyPr wrap="square" rtlCol="0" anchor="ctr" anchorCtr="0">
            <a:spAutoFit/>
          </a:bodyPr>
          <a:lstStyle/>
          <a:p>
            <a:pPr algn="ctr"/>
            <a:endParaRPr lang="de-DE" sz="1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  <a:p>
            <a:pPr algn="ctr"/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Heinz Eduard </a:t>
            </a:r>
            <a:r>
              <a:rPr lang="de-D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Tödt</a:t>
            </a:r>
            <a:br>
              <a:rPr lang="de-DE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</a:br>
            <a:r>
              <a:rPr lang="de-DE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Schritte zu</a:t>
            </a:r>
            <a:br>
              <a:rPr lang="de-DE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</a:br>
            <a:r>
              <a:rPr lang="de-DE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einem</a:t>
            </a:r>
            <a:br>
              <a:rPr lang="de-DE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</a:br>
            <a:r>
              <a:rPr lang="de-DE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  <a:cs typeface="Trebuchet MS"/>
              </a:rPr>
              <a:t>ethischen Urteil</a:t>
            </a:r>
          </a:p>
          <a:p>
            <a:pPr algn="ctr"/>
            <a:endParaRPr lang="de-DE" sz="2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2831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mph" presetSubtype="0" repeatCount="indefinite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10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7" grpId="0" animBg="1"/>
      <p:bldP spid="19" grpId="0" animBg="1"/>
      <p:bldP spid="23" grpId="0" animBg="1"/>
      <p:bldP spid="25" grpId="0" animBg="1"/>
      <p:bldP spid="26" grpId="0" animBg="1"/>
      <p:bldP spid="11" grpId="0" animBg="1"/>
      <p:bldP spid="4" grpId="0" animBg="1"/>
      <p:bldP spid="14" grpId="0" animBg="1"/>
      <p:bldP spid="27" grpId="0" animBg="1"/>
      <p:bldP spid="28" grpId="0" animBg="1"/>
      <p:bldP spid="63" grpId="0" animBg="1"/>
      <p:bldP spid="16" grpId="0" animBg="1"/>
      <p:bldP spid="15" grpId="0" animBg="1"/>
      <p:bldP spid="13" grpId="0" build="allAtOnce" animBg="1"/>
      <p:bldP spid="24" grpId="0" animBg="1"/>
      <p:bldP spid="2" grpId="0" animBg="1"/>
    </p:bldLst>
  </p:timing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Macintosh PowerPoint</Application>
  <PresentationFormat>Bildschirmpräsentation (4:3)</PresentationFormat>
  <Paragraphs>27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Olaf Ideker-Harr</dc:creator>
  <cp:lastModifiedBy>Olaf Ideker-Harr</cp:lastModifiedBy>
  <cp:revision>46</cp:revision>
  <cp:lastPrinted>2018-11-03T17:11:47Z</cp:lastPrinted>
  <dcterms:created xsi:type="dcterms:W3CDTF">2016-02-21T14:19:36Z</dcterms:created>
  <dcterms:modified xsi:type="dcterms:W3CDTF">2024-08-21T13:40:29Z</dcterms:modified>
</cp:coreProperties>
</file>