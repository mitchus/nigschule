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üne, hügelige Landschaft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Autor:in und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24" name="Textebene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titel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3" name="Textebene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osbedeckte Felsen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44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1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6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Große Felsformation unter dunklen Wolken mit einem Pfad im Vordergr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72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73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2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83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Agenda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Agenda-Untertitel</a:t>
            </a:r>
          </a:p>
        </p:txBody>
      </p:sp>
      <p:sp>
        <p:nvSpPr>
          <p:cNvPr id="11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kte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Fakten</a:t>
            </a:r>
          </a:p>
        </p:txBody>
      </p:sp>
      <p:sp>
        <p:nvSpPr>
          <p:cNvPr id="127" name="Textebene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Quellenangabe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Quellenangabe</a:t>
            </a:r>
          </a:p>
        </p:txBody>
      </p:sp>
      <p:sp>
        <p:nvSpPr>
          <p:cNvPr id="136" name="Textebene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ahaufnahme von Wildpflanzen, die zwischen Lavasteinen wachsen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Große Felsformation unter dunklen Wolken mit einem Pfad im Vordergr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Nahaufnahme einer Wildpflanze, die zwischen Lavasteinen wächst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sserfall umgeben von einer grünen Felsenlandschaft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ies Hinrichs, 09.09.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Thies Hinrichs, 09.09.2025</a:t>
            </a:r>
          </a:p>
        </p:txBody>
      </p:sp>
      <p:sp>
        <p:nvSpPr>
          <p:cNvPr id="172" name="Starke vs. Schwache künstliche Intelligenz"/>
          <p:cNvSpPr txBox="1"/>
          <p:nvPr>
            <p:ph type="ctrTitle"/>
          </p:nvPr>
        </p:nvSpPr>
        <p:spPr>
          <a:xfrm>
            <a:off x="1206498" y="371189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Starke vs. Schwache künstliche Intelligenz</a:t>
            </a:r>
          </a:p>
        </p:txBody>
      </p:sp>
      <p:sp>
        <p:nvSpPr>
          <p:cNvPr id="173" name="Einordnung in die KI-Forschung"/>
          <p:cNvSpPr txBox="1"/>
          <p:nvPr>
            <p:ph type="subTitle" sz="quarter" idx="1"/>
          </p:nvPr>
        </p:nvSpPr>
        <p:spPr>
          <a:xfrm>
            <a:off x="1206500" y="5395909"/>
            <a:ext cx="21971001" cy="1905001"/>
          </a:xfrm>
          <a:prstGeom prst="rect">
            <a:avLst/>
          </a:prstGeom>
        </p:spPr>
        <p:txBody>
          <a:bodyPr/>
          <a:lstStyle/>
          <a:p>
            <a:pPr/>
            <a:r>
              <a:t>Einordnung in die KI-Forschung</a:t>
            </a:r>
          </a:p>
        </p:txBody>
      </p:sp>
      <p:pic>
        <p:nvPicPr>
          <p:cNvPr id="174" name="Bildergalerie" descr="Bildergalerie"/>
          <p:cNvPicPr>
            <a:picLocks noChangeAspect="1"/>
          </p:cNvPicPr>
          <p:nvPr/>
        </p:nvPicPr>
        <p:blipFill>
          <a:blip r:embed="rId2">
            <a:extLst/>
          </a:blip>
          <a:srcRect l="0" t="13167" r="0" b="13167"/>
          <a:stretch>
            <a:fillRect/>
          </a:stretch>
        </p:blipFill>
        <p:spPr>
          <a:xfrm>
            <a:off x="6419791" y="6469077"/>
            <a:ext cx="17815456" cy="87492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Was ist künstliche Intelligenz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Was ist künstliche Intelligenz?</a:t>
            </a:r>
          </a:p>
        </p:txBody>
      </p:sp>
      <p:sp>
        <p:nvSpPr>
          <p:cNvPr id="177" name="Definition: Systeme, die Aufgaben erledigen, die normalerweise menschliche Intelligenz erfordern.…"/>
          <p:cNvSpPr txBox="1"/>
          <p:nvPr>
            <p:ph type="body" idx="1"/>
          </p:nvPr>
        </p:nvSpPr>
        <p:spPr>
          <a:xfrm>
            <a:off x="1206499" y="3171040"/>
            <a:ext cx="21971001" cy="9428263"/>
          </a:xfrm>
          <a:prstGeom prst="rect">
            <a:avLst/>
          </a:prstGeom>
        </p:spPr>
        <p:txBody>
          <a:bodyPr/>
          <a:lstStyle/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t>Definition: Systeme, die Aufgaben erledigen, die normalerweise menschliche Intelligenz erfordern.</a:t>
            </a:r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t>Beispiele für Fähigkeiten: 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Sprache verstehen und erzeugen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Bilder erkennen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Entscheidungen treffen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Strategien entwickeln</a:t>
            </a:r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t>KI ist nicht gleich KI → wichtige Unterscheidung zwischen schwacher und starker KI.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chwache KI (Narrow AI)"/>
          <p:cNvSpPr txBox="1"/>
          <p:nvPr>
            <p:ph type="title"/>
          </p:nvPr>
        </p:nvSpPr>
        <p:spPr>
          <a:xfrm>
            <a:off x="1206500" y="597048"/>
            <a:ext cx="21971001" cy="1433163"/>
          </a:xfrm>
          <a:prstGeom prst="rect">
            <a:avLst/>
          </a:prstGeom>
        </p:spPr>
        <p:txBody>
          <a:bodyPr/>
          <a:lstStyle/>
          <a:p>
            <a:pPr/>
            <a:r>
              <a:t>Schwache KI (Narrow AI)</a:t>
            </a:r>
          </a:p>
        </p:txBody>
      </p:sp>
      <p:sp>
        <p:nvSpPr>
          <p:cNvPr id="180" name="Merkmale:…"/>
          <p:cNvSpPr txBox="1"/>
          <p:nvPr>
            <p:ph type="body" sz="quarter" idx="1"/>
          </p:nvPr>
        </p:nvSpPr>
        <p:spPr>
          <a:xfrm>
            <a:off x="542989" y="2454982"/>
            <a:ext cx="11520438" cy="5128562"/>
          </a:xfrm>
          <a:prstGeom prst="rect">
            <a:avLst/>
          </a:prstGeom>
        </p:spPr>
        <p:txBody>
          <a:bodyPr/>
          <a:lstStyle/>
          <a:p>
            <a:pPr marL="0" indent="0" defTabSz="1999437">
              <a:spcBef>
                <a:spcPts val="3600"/>
              </a:spcBef>
              <a:buSzTx/>
              <a:buNone/>
              <a:defRPr b="1" sz="3936"/>
            </a:pPr>
            <a:r>
              <a:t>Merkmale: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Spezialisierte Systeme für eine konkrete Aufgabe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Kein echtes Verständnis → nur Mustererkennung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Lernt aus großen Datenmengen, aber ohne Bewusstsein</a:t>
            </a:r>
          </a:p>
        </p:txBody>
      </p:sp>
      <p:sp>
        <p:nvSpPr>
          <p:cNvPr id="181" name="Beispiele:…"/>
          <p:cNvSpPr txBox="1"/>
          <p:nvPr/>
        </p:nvSpPr>
        <p:spPr>
          <a:xfrm>
            <a:off x="13306017" y="2670219"/>
            <a:ext cx="10288931" cy="4271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4400"/>
            </a:pPr>
            <a:r>
              <a:t>Beispiele:</a:t>
            </a:r>
          </a:p>
          <a:p>
            <a:pPr marL="558800" indent="-558800">
              <a:buSzPct val="123000"/>
              <a:buChar char="•"/>
              <a:defRPr sz="4400"/>
            </a:pPr>
            <a:r>
              <a:t>Sprachassistenten (Alexa, Siri)</a:t>
            </a:r>
          </a:p>
          <a:p>
            <a:pPr marL="558800" indent="-558800">
              <a:buSzPct val="123000"/>
              <a:buChar char="•"/>
              <a:defRPr sz="4400"/>
            </a:pPr>
            <a:r>
              <a:t>Google Translate</a:t>
            </a:r>
          </a:p>
          <a:p>
            <a:pPr marL="558800" indent="-558800">
              <a:buSzPct val="123000"/>
              <a:buChar char="•"/>
              <a:defRPr sz="4400"/>
            </a:pPr>
            <a:r>
              <a:t>Schachcomputer oder Go-Programme</a:t>
            </a:r>
          </a:p>
        </p:txBody>
      </p:sp>
      <p:sp>
        <p:nvSpPr>
          <p:cNvPr id="182" name="Bedeutung heute:…"/>
          <p:cNvSpPr txBox="1"/>
          <p:nvPr/>
        </p:nvSpPr>
        <p:spPr>
          <a:xfrm>
            <a:off x="651930" y="7577327"/>
            <a:ext cx="12196167" cy="4295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400"/>
            </a:pPr>
            <a:r>
              <a:t>Bedeutung heute:</a:t>
            </a:r>
          </a:p>
          <a:p>
            <a:pPr marL="609599" indent="-609599">
              <a:buSzPct val="123000"/>
              <a:buChar char="•"/>
              <a:defRPr sz="4400"/>
            </a:pPr>
            <a:r>
              <a:t>Schwache KI ist bereits im Alltag fest verankert</a:t>
            </a:r>
          </a:p>
          <a:p>
            <a:pPr marL="609599" indent="-609599">
              <a:buSzPct val="123000"/>
              <a:buChar char="•"/>
              <a:defRPr sz="4400"/>
            </a:pPr>
            <a:r>
              <a:t>Steuert viele digitale Dienste und Anwendungen</a:t>
            </a:r>
          </a:p>
        </p:txBody>
      </p:sp>
      <p:pic>
        <p:nvPicPr>
          <p:cNvPr id="183" name="Bildergalerie" descr="Bildergalerie"/>
          <p:cNvPicPr>
            <a:picLocks noChangeAspect="1"/>
          </p:cNvPicPr>
          <p:nvPr/>
        </p:nvPicPr>
        <p:blipFill>
          <a:blip r:embed="rId2">
            <a:extLst/>
          </a:blip>
          <a:srcRect l="2712" t="0" r="2712" b="0"/>
          <a:stretch>
            <a:fillRect/>
          </a:stretch>
        </p:blipFill>
        <p:spPr>
          <a:xfrm>
            <a:off x="12263090" y="6564293"/>
            <a:ext cx="10985501" cy="77438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tarke KI (General KI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Starke KI (General KI)</a:t>
            </a:r>
          </a:p>
        </p:txBody>
      </p:sp>
      <p:sp>
        <p:nvSpPr>
          <p:cNvPr id="186" name="Merkmale:…"/>
          <p:cNvSpPr txBox="1"/>
          <p:nvPr>
            <p:ph type="body" sz="quarter" idx="1"/>
          </p:nvPr>
        </p:nvSpPr>
        <p:spPr>
          <a:xfrm>
            <a:off x="898441" y="2815033"/>
            <a:ext cx="11527659" cy="4942904"/>
          </a:xfrm>
          <a:prstGeom prst="rect">
            <a:avLst/>
          </a:prstGeom>
        </p:spPr>
        <p:txBody>
          <a:bodyPr/>
          <a:lstStyle/>
          <a:p>
            <a:pPr marL="0" indent="0" defTabSz="2218888">
              <a:spcBef>
                <a:spcPts val="4000"/>
              </a:spcBef>
              <a:buSzTx/>
              <a:buNone/>
              <a:defRPr b="1" sz="4004"/>
            </a:pPr>
            <a:r>
              <a:t>Merkmale:</a:t>
            </a:r>
          </a:p>
          <a:p>
            <a:pPr marL="508508" indent="-508508" defTabSz="2218888">
              <a:spcBef>
                <a:spcPts val="4000"/>
              </a:spcBef>
              <a:defRPr sz="4004"/>
            </a:pPr>
            <a:r>
              <a:t>Kann wie ein Mensch flexibel Wissen anwenden</a:t>
            </a:r>
          </a:p>
          <a:p>
            <a:pPr marL="508508" indent="-508508" defTabSz="2218888">
              <a:spcBef>
                <a:spcPts val="4000"/>
              </a:spcBef>
              <a:defRPr sz="4004"/>
            </a:pPr>
            <a:r>
              <a:t>Versteht Zusammenhänge und hat eine Form von Bewusstsein</a:t>
            </a:r>
          </a:p>
          <a:p>
            <a:pPr marL="508508" indent="-508508" defTabSz="2218888">
              <a:spcBef>
                <a:spcPts val="4000"/>
              </a:spcBef>
              <a:defRPr sz="4004"/>
            </a:pPr>
            <a:r>
              <a:t>Könnte neue Probleme eigenständig lösen</a:t>
            </a:r>
          </a:p>
        </p:txBody>
      </p:sp>
      <p:sp>
        <p:nvSpPr>
          <p:cNvPr id="187" name="Status:…"/>
          <p:cNvSpPr txBox="1"/>
          <p:nvPr/>
        </p:nvSpPr>
        <p:spPr>
          <a:xfrm>
            <a:off x="841504" y="8181563"/>
            <a:ext cx="11305303" cy="4405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500"/>
            </a:pPr>
            <a:r>
              <a:t>Status:</a:t>
            </a:r>
          </a:p>
          <a:p>
            <a:pPr marL="609599" indent="-609599">
              <a:buSzPct val="123000"/>
              <a:buChar char="•"/>
              <a:defRPr sz="4500"/>
            </a:pPr>
            <a:r>
              <a:t>Existiert noch nicht → reine Forschung und Theorie</a:t>
            </a:r>
          </a:p>
          <a:p>
            <a:pPr marL="609599" indent="-609599">
              <a:buSzPct val="123000"/>
              <a:buChar char="•"/>
              <a:defRPr sz="4500"/>
            </a:pPr>
            <a:r>
              <a:t>Ziel der KI Entwicklung, aber mit großen offenen Fragen</a:t>
            </a:r>
          </a:p>
        </p:txBody>
      </p:sp>
      <p:sp>
        <p:nvSpPr>
          <p:cNvPr id="188" name="Chancen &amp; Risiken:…"/>
          <p:cNvSpPr txBox="1"/>
          <p:nvPr/>
        </p:nvSpPr>
        <p:spPr>
          <a:xfrm>
            <a:off x="13424501" y="1818484"/>
            <a:ext cx="10391033" cy="442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500"/>
            </a:pPr>
            <a:r>
              <a:t>Chancen &amp; Risiken:</a:t>
            </a:r>
          </a:p>
          <a:p>
            <a:pPr>
              <a:defRPr sz="4500"/>
            </a:pPr>
            <a:r>
              <a:rPr b="1"/>
              <a:t>Chancen</a:t>
            </a:r>
            <a:r>
              <a:t>: Medizin, Wissenschaft, Automatisierung komplexer Aufgaben</a:t>
            </a:r>
          </a:p>
          <a:p>
            <a:pPr>
              <a:defRPr sz="4500"/>
            </a:pPr>
            <a:r>
              <a:rPr b="1"/>
              <a:t>Risiken</a:t>
            </a:r>
            <a:r>
              <a:t>: Kontrolle, Ethik, Arbeitsplatzverlust, Machtfragen</a:t>
            </a:r>
          </a:p>
        </p:txBody>
      </p:sp>
      <p:pic>
        <p:nvPicPr>
          <p:cNvPr id="189" name="Bildergalerie" descr="Bildergalerie"/>
          <p:cNvPicPr>
            <a:picLocks noChangeAspect="1"/>
          </p:cNvPicPr>
          <p:nvPr/>
        </p:nvPicPr>
        <p:blipFill>
          <a:blip r:embed="rId2">
            <a:extLst/>
          </a:blip>
          <a:srcRect l="0" t="4163" r="0" b="4163"/>
          <a:stretch>
            <a:fillRect/>
          </a:stretch>
        </p:blipFill>
        <p:spPr>
          <a:xfrm>
            <a:off x="12926600" y="6699444"/>
            <a:ext cx="10294962" cy="141565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rgleich und Faz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Vergleich und Fazit</a:t>
            </a:r>
          </a:p>
        </p:txBody>
      </p:sp>
      <p:sp>
        <p:nvSpPr>
          <p:cNvPr id="192" name="Schwache KI…"/>
          <p:cNvSpPr txBox="1"/>
          <p:nvPr>
            <p:ph type="body" sz="quarter" idx="1"/>
          </p:nvPr>
        </p:nvSpPr>
        <p:spPr>
          <a:xfrm>
            <a:off x="1088016" y="3253054"/>
            <a:ext cx="10488979" cy="486986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Schwache KI</a:t>
            </a:r>
          </a:p>
          <a:p>
            <a:pPr marL="609599" indent="-609599">
              <a:defRPr sz="4500"/>
            </a:pPr>
            <a:r>
              <a:t>Realität, heute allgegenwärtig</a:t>
            </a:r>
          </a:p>
          <a:p>
            <a:pPr marL="609599" indent="-609599">
              <a:defRPr sz="4500"/>
            </a:pPr>
            <a:r>
              <a:t>Sehr leistungsfähig, aber beschränkt auf Spezialgebiete</a:t>
            </a:r>
          </a:p>
        </p:txBody>
      </p:sp>
      <p:sp>
        <p:nvSpPr>
          <p:cNvPr id="193" name="Starke KI…"/>
          <p:cNvSpPr txBox="1"/>
          <p:nvPr/>
        </p:nvSpPr>
        <p:spPr>
          <a:xfrm>
            <a:off x="13329714" y="4089025"/>
            <a:ext cx="10450831" cy="3197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Starke KI</a:t>
            </a:r>
          </a:p>
          <a:p>
            <a:pPr marL="609599" indent="-609599">
              <a:buSzPct val="123000"/>
              <a:buChar char="•"/>
              <a:defRPr sz="4500"/>
            </a:pPr>
            <a:r>
              <a:t>Zukunftsvision, noch nicht realisiert</a:t>
            </a:r>
          </a:p>
          <a:p>
            <a:pPr marL="609599" indent="-609599">
              <a:buSzPct val="123000"/>
              <a:buChar char="•"/>
              <a:defRPr sz="4500"/>
            </a:pPr>
            <a:r>
              <a:t>Könnte Gesellschaft radikal verändern</a:t>
            </a:r>
          </a:p>
        </p:txBody>
      </p:sp>
      <p:sp>
        <p:nvSpPr>
          <p:cNvPr id="194" name="Fazit…"/>
          <p:cNvSpPr txBox="1"/>
          <p:nvPr/>
        </p:nvSpPr>
        <p:spPr>
          <a:xfrm>
            <a:off x="3084004" y="8700207"/>
            <a:ext cx="18215992" cy="3202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Fazit</a:t>
            </a:r>
          </a:p>
          <a:p>
            <a:pPr marL="571500" indent="-571500">
              <a:buSzPct val="123000"/>
              <a:buChar char="•"/>
              <a:defRPr sz="4500"/>
            </a:pPr>
            <a:r>
              <a:t>Momentan prägt uns schwache KI im Alltag</a:t>
            </a:r>
          </a:p>
          <a:p>
            <a:pPr marL="571500" indent="-571500">
              <a:buSzPct val="123000"/>
              <a:buChar char="•"/>
              <a:defRPr sz="4500"/>
            </a:pPr>
            <a:r>
              <a:t>Starke KI bleibt ein Ziel der Forschung → mit Chancen und Gefahren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