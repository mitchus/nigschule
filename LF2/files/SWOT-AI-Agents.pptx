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0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51028-DC89-4AB6-B9EC-915AB2066CC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0121FB5-6E6F-409F-97A5-3025CB2DB17A}">
      <dgm:prSet/>
      <dgm:spPr/>
      <dgm:t>
        <a:bodyPr/>
        <a:lstStyle/>
        <a:p>
          <a:pPr>
            <a:defRPr cap="all"/>
          </a:pPr>
          <a:r>
            <a:rPr lang="en-US"/>
            <a:t>Strengths (Stärken)</a:t>
          </a:r>
        </a:p>
      </dgm:t>
    </dgm:pt>
    <dgm:pt modelId="{2B8B617B-D1E1-4C6D-9DF9-29898A4D1C89}" type="parTrans" cxnId="{D25131BF-38A4-4A5A-9104-52631071AFEF}">
      <dgm:prSet/>
      <dgm:spPr/>
      <dgm:t>
        <a:bodyPr/>
        <a:lstStyle/>
        <a:p>
          <a:endParaRPr lang="en-US"/>
        </a:p>
      </dgm:t>
    </dgm:pt>
    <dgm:pt modelId="{FDBF6A27-9A66-4CF6-A0B8-99CB0B397DD6}" type="sibTrans" cxnId="{D25131BF-38A4-4A5A-9104-52631071AFEF}">
      <dgm:prSet/>
      <dgm:spPr/>
      <dgm:t>
        <a:bodyPr/>
        <a:lstStyle/>
        <a:p>
          <a:endParaRPr lang="en-US"/>
        </a:p>
      </dgm:t>
    </dgm:pt>
    <dgm:pt modelId="{C4FA630D-E45D-4371-9C0A-E002F8E0C395}">
      <dgm:prSet/>
      <dgm:spPr/>
      <dgm:t>
        <a:bodyPr/>
        <a:lstStyle/>
        <a:p>
          <a:pPr>
            <a:defRPr cap="all"/>
          </a:pPr>
          <a:r>
            <a:rPr lang="en-US" dirty="0"/>
            <a:t>Weaknesses (</a:t>
          </a:r>
          <a:r>
            <a:rPr lang="en-US" dirty="0" err="1"/>
            <a:t>Schwächen</a:t>
          </a:r>
          <a:r>
            <a:rPr lang="en-US" dirty="0"/>
            <a:t>)</a:t>
          </a:r>
        </a:p>
      </dgm:t>
    </dgm:pt>
    <dgm:pt modelId="{A2A9D314-B1DF-4353-A4B0-FFB73A5CFBD5}" type="parTrans" cxnId="{C0183C06-8CE3-44DB-8DB9-85F6893CE608}">
      <dgm:prSet/>
      <dgm:spPr/>
      <dgm:t>
        <a:bodyPr/>
        <a:lstStyle/>
        <a:p>
          <a:endParaRPr lang="en-US"/>
        </a:p>
      </dgm:t>
    </dgm:pt>
    <dgm:pt modelId="{A5F31C3F-1302-49DC-B98D-1897A005CBF2}" type="sibTrans" cxnId="{C0183C06-8CE3-44DB-8DB9-85F6893CE608}">
      <dgm:prSet/>
      <dgm:spPr/>
      <dgm:t>
        <a:bodyPr/>
        <a:lstStyle/>
        <a:p>
          <a:endParaRPr lang="en-US"/>
        </a:p>
      </dgm:t>
    </dgm:pt>
    <dgm:pt modelId="{76C2F268-16A5-429E-906F-0F2EAA509501}">
      <dgm:prSet/>
      <dgm:spPr/>
      <dgm:t>
        <a:bodyPr/>
        <a:lstStyle/>
        <a:p>
          <a:pPr>
            <a:defRPr cap="all"/>
          </a:pPr>
          <a:r>
            <a:rPr lang="en-US"/>
            <a:t>Opportunities (Chancen)</a:t>
          </a:r>
        </a:p>
      </dgm:t>
    </dgm:pt>
    <dgm:pt modelId="{EBA41BF0-9834-4B8A-AD97-B2966EE8C1AE}" type="parTrans" cxnId="{C0F93253-0BC8-445F-A522-C2656536A0EB}">
      <dgm:prSet/>
      <dgm:spPr/>
      <dgm:t>
        <a:bodyPr/>
        <a:lstStyle/>
        <a:p>
          <a:endParaRPr lang="en-US"/>
        </a:p>
      </dgm:t>
    </dgm:pt>
    <dgm:pt modelId="{8F93767E-A368-4D73-993D-A4118D9EDB8F}" type="sibTrans" cxnId="{C0F93253-0BC8-445F-A522-C2656536A0EB}">
      <dgm:prSet/>
      <dgm:spPr/>
      <dgm:t>
        <a:bodyPr/>
        <a:lstStyle/>
        <a:p>
          <a:endParaRPr lang="en-US"/>
        </a:p>
      </dgm:t>
    </dgm:pt>
    <dgm:pt modelId="{D4222BB1-0816-4817-8280-276CA129FE61}">
      <dgm:prSet/>
      <dgm:spPr/>
      <dgm:t>
        <a:bodyPr/>
        <a:lstStyle/>
        <a:p>
          <a:pPr>
            <a:defRPr cap="all"/>
          </a:pPr>
          <a:r>
            <a:rPr lang="en-US"/>
            <a:t>Threats (Bedrohungen)</a:t>
          </a:r>
        </a:p>
      </dgm:t>
    </dgm:pt>
    <dgm:pt modelId="{9B2ED82C-7397-4421-B6BB-A5DB326D8BD5}" type="parTrans" cxnId="{9B24E106-6287-498F-8789-C4789D62716E}">
      <dgm:prSet/>
      <dgm:spPr/>
      <dgm:t>
        <a:bodyPr/>
        <a:lstStyle/>
        <a:p>
          <a:endParaRPr lang="en-US"/>
        </a:p>
      </dgm:t>
    </dgm:pt>
    <dgm:pt modelId="{77C95844-B4EE-4AAB-86EA-6DF8BFB99915}" type="sibTrans" cxnId="{9B24E106-6287-498F-8789-C4789D62716E}">
      <dgm:prSet/>
      <dgm:spPr/>
      <dgm:t>
        <a:bodyPr/>
        <a:lstStyle/>
        <a:p>
          <a:endParaRPr lang="en-US"/>
        </a:p>
      </dgm:t>
    </dgm:pt>
    <dgm:pt modelId="{75088E31-D52B-4872-AD09-90BCF73D0716}">
      <dgm:prSet/>
      <dgm:spPr/>
      <dgm:t>
        <a:bodyPr/>
        <a:lstStyle/>
        <a:p>
          <a:pPr>
            <a:defRPr cap="all"/>
          </a:pPr>
          <a:r>
            <a:rPr lang="en-US"/>
            <a:t>Werkzeug zur strategischen Analyse interner und externer Faktoren</a:t>
          </a:r>
        </a:p>
      </dgm:t>
    </dgm:pt>
    <dgm:pt modelId="{77716462-5EE4-45BB-8700-736489CDD75E}" type="parTrans" cxnId="{AAC0507E-3877-45AF-A333-A269895E07AD}">
      <dgm:prSet/>
      <dgm:spPr/>
      <dgm:t>
        <a:bodyPr/>
        <a:lstStyle/>
        <a:p>
          <a:endParaRPr lang="en-US"/>
        </a:p>
      </dgm:t>
    </dgm:pt>
    <dgm:pt modelId="{96795740-6EC9-48BE-8EFB-EAEA13BCF8BD}" type="sibTrans" cxnId="{AAC0507E-3877-45AF-A333-A269895E07AD}">
      <dgm:prSet/>
      <dgm:spPr/>
      <dgm:t>
        <a:bodyPr/>
        <a:lstStyle/>
        <a:p>
          <a:endParaRPr lang="en-US"/>
        </a:p>
      </dgm:t>
    </dgm:pt>
    <dgm:pt modelId="{2FC80F91-1854-49F2-B3E8-5081AECA4155}" type="pres">
      <dgm:prSet presAssocID="{89E51028-DC89-4AB6-B9EC-915AB2066CC3}" presName="root" presStyleCnt="0">
        <dgm:presLayoutVars>
          <dgm:dir/>
          <dgm:resizeHandles val="exact"/>
        </dgm:presLayoutVars>
      </dgm:prSet>
      <dgm:spPr/>
    </dgm:pt>
    <dgm:pt modelId="{0E0E28F7-3B23-4D50-AD34-C00A2AFE914F}" type="pres">
      <dgm:prSet presAssocID="{90121FB5-6E6F-409F-97A5-3025CB2DB17A}" presName="compNode" presStyleCnt="0"/>
      <dgm:spPr/>
    </dgm:pt>
    <dgm:pt modelId="{94FA8E7D-BB34-42EC-8B4F-0037D9F02DC9}" type="pres">
      <dgm:prSet presAssocID="{90121FB5-6E6F-409F-97A5-3025CB2DB17A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E615156-B73E-4503-A11E-93152A19D1C1}" type="pres">
      <dgm:prSet presAssocID="{90121FB5-6E6F-409F-97A5-3025CB2DB17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A1527554-67EC-4EE6-9BC1-74E7E6F8610B}" type="pres">
      <dgm:prSet presAssocID="{90121FB5-6E6F-409F-97A5-3025CB2DB17A}" presName="spaceRect" presStyleCnt="0"/>
      <dgm:spPr/>
    </dgm:pt>
    <dgm:pt modelId="{B7357F8A-0CB2-4894-9B85-F0B077A2490F}" type="pres">
      <dgm:prSet presAssocID="{90121FB5-6E6F-409F-97A5-3025CB2DB17A}" presName="textRect" presStyleLbl="revTx" presStyleIdx="0" presStyleCnt="5">
        <dgm:presLayoutVars>
          <dgm:chMax val="1"/>
          <dgm:chPref val="1"/>
        </dgm:presLayoutVars>
      </dgm:prSet>
      <dgm:spPr/>
    </dgm:pt>
    <dgm:pt modelId="{238783B9-83DA-4D12-BA41-BB4CE80CA390}" type="pres">
      <dgm:prSet presAssocID="{FDBF6A27-9A66-4CF6-A0B8-99CB0B397DD6}" presName="sibTrans" presStyleCnt="0"/>
      <dgm:spPr/>
    </dgm:pt>
    <dgm:pt modelId="{9EF382B3-580B-4A74-A47D-3A5FA78D1F52}" type="pres">
      <dgm:prSet presAssocID="{C4FA630D-E45D-4371-9C0A-E002F8E0C395}" presName="compNode" presStyleCnt="0"/>
      <dgm:spPr/>
    </dgm:pt>
    <dgm:pt modelId="{591D72E2-D0C9-4CC7-A8C4-E5C8B963CECE}" type="pres">
      <dgm:prSet presAssocID="{C4FA630D-E45D-4371-9C0A-E002F8E0C395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976B3CC-A810-4182-84EE-BB3FD439C896}" type="pres">
      <dgm:prSet presAssocID="{C4FA630D-E45D-4371-9C0A-E002F8E0C39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B1708B7D-DC25-441D-A4FB-D79C23A7C47F}" type="pres">
      <dgm:prSet presAssocID="{C4FA630D-E45D-4371-9C0A-E002F8E0C395}" presName="spaceRect" presStyleCnt="0"/>
      <dgm:spPr/>
    </dgm:pt>
    <dgm:pt modelId="{220553AF-9C7A-428F-A15B-A7C494CADDAD}" type="pres">
      <dgm:prSet presAssocID="{C4FA630D-E45D-4371-9C0A-E002F8E0C395}" presName="textRect" presStyleLbl="revTx" presStyleIdx="1" presStyleCnt="5">
        <dgm:presLayoutVars>
          <dgm:chMax val="1"/>
          <dgm:chPref val="1"/>
        </dgm:presLayoutVars>
      </dgm:prSet>
      <dgm:spPr/>
    </dgm:pt>
    <dgm:pt modelId="{A7F1BF8E-FEFE-422F-B925-8649A0399A58}" type="pres">
      <dgm:prSet presAssocID="{A5F31C3F-1302-49DC-B98D-1897A005CBF2}" presName="sibTrans" presStyleCnt="0"/>
      <dgm:spPr/>
    </dgm:pt>
    <dgm:pt modelId="{FB6F5857-4288-49CE-ABBE-4E3180A9FC60}" type="pres">
      <dgm:prSet presAssocID="{76C2F268-16A5-429E-906F-0F2EAA509501}" presName="compNode" presStyleCnt="0"/>
      <dgm:spPr/>
    </dgm:pt>
    <dgm:pt modelId="{0366BA5F-DE2D-46FF-AC5F-0181F71B44D4}" type="pres">
      <dgm:prSet presAssocID="{76C2F268-16A5-429E-906F-0F2EAA509501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09AC9E2-8C84-4E97-A020-13DC85F9E853}" type="pres">
      <dgm:prSet presAssocID="{76C2F268-16A5-429E-906F-0F2EAA50950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5C0245F-34B5-4B37-BF22-50ECD4EFC60A}" type="pres">
      <dgm:prSet presAssocID="{76C2F268-16A5-429E-906F-0F2EAA509501}" presName="spaceRect" presStyleCnt="0"/>
      <dgm:spPr/>
    </dgm:pt>
    <dgm:pt modelId="{60619DDC-5867-47D0-AA38-A0D56B57B6ED}" type="pres">
      <dgm:prSet presAssocID="{76C2F268-16A5-429E-906F-0F2EAA509501}" presName="textRect" presStyleLbl="revTx" presStyleIdx="2" presStyleCnt="5">
        <dgm:presLayoutVars>
          <dgm:chMax val="1"/>
          <dgm:chPref val="1"/>
        </dgm:presLayoutVars>
      </dgm:prSet>
      <dgm:spPr/>
    </dgm:pt>
    <dgm:pt modelId="{19D9C138-70F3-46DE-94A8-63C8E699A6D8}" type="pres">
      <dgm:prSet presAssocID="{8F93767E-A368-4D73-993D-A4118D9EDB8F}" presName="sibTrans" presStyleCnt="0"/>
      <dgm:spPr/>
    </dgm:pt>
    <dgm:pt modelId="{6B4675DD-4483-453F-80F0-D2B7EDF05272}" type="pres">
      <dgm:prSet presAssocID="{D4222BB1-0816-4817-8280-276CA129FE61}" presName="compNode" presStyleCnt="0"/>
      <dgm:spPr/>
    </dgm:pt>
    <dgm:pt modelId="{5B0511D7-E951-41D6-A040-FB7BBE80A447}" type="pres">
      <dgm:prSet presAssocID="{D4222BB1-0816-4817-8280-276CA129FE61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EFB6FFD-5DFA-4EB5-AF91-5F80A376C92E}" type="pres">
      <dgm:prSet presAssocID="{D4222BB1-0816-4817-8280-276CA129FE6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ktiv"/>
        </a:ext>
      </dgm:extLst>
    </dgm:pt>
    <dgm:pt modelId="{68124178-0C81-421A-8584-45A25725E004}" type="pres">
      <dgm:prSet presAssocID="{D4222BB1-0816-4817-8280-276CA129FE61}" presName="spaceRect" presStyleCnt="0"/>
      <dgm:spPr/>
    </dgm:pt>
    <dgm:pt modelId="{64D1505E-8D2C-43D4-A11C-796E928C7225}" type="pres">
      <dgm:prSet presAssocID="{D4222BB1-0816-4817-8280-276CA129FE61}" presName="textRect" presStyleLbl="revTx" presStyleIdx="3" presStyleCnt="5">
        <dgm:presLayoutVars>
          <dgm:chMax val="1"/>
          <dgm:chPref val="1"/>
        </dgm:presLayoutVars>
      </dgm:prSet>
      <dgm:spPr/>
    </dgm:pt>
    <dgm:pt modelId="{8EC2A29D-3FFB-4433-B939-E904448003FA}" type="pres">
      <dgm:prSet presAssocID="{77C95844-B4EE-4AAB-86EA-6DF8BFB99915}" presName="sibTrans" presStyleCnt="0"/>
      <dgm:spPr/>
    </dgm:pt>
    <dgm:pt modelId="{85FDA231-5716-405E-98C4-2A278B8A89C9}" type="pres">
      <dgm:prSet presAssocID="{75088E31-D52B-4872-AD09-90BCF73D0716}" presName="compNode" presStyleCnt="0"/>
      <dgm:spPr/>
    </dgm:pt>
    <dgm:pt modelId="{DD8C7FC5-B835-45C8-8EA4-9307D4EB9AE7}" type="pres">
      <dgm:prSet presAssocID="{75088E31-D52B-4872-AD09-90BCF73D0716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219B796-89CF-4D6F-AA55-3AFC53ACC58E}" type="pres">
      <dgm:prSet presAssocID="{75088E31-D52B-4872-AD09-90BCF73D071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387AC27-E4CE-468A-B67C-4326E9EDD65A}" type="pres">
      <dgm:prSet presAssocID="{75088E31-D52B-4872-AD09-90BCF73D0716}" presName="spaceRect" presStyleCnt="0"/>
      <dgm:spPr/>
    </dgm:pt>
    <dgm:pt modelId="{54EB86C2-F464-46CF-AE35-436AD53FF5B6}" type="pres">
      <dgm:prSet presAssocID="{75088E31-D52B-4872-AD09-90BCF73D071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0183C06-8CE3-44DB-8DB9-85F6893CE608}" srcId="{89E51028-DC89-4AB6-B9EC-915AB2066CC3}" destId="{C4FA630D-E45D-4371-9C0A-E002F8E0C395}" srcOrd="1" destOrd="0" parTransId="{A2A9D314-B1DF-4353-A4B0-FFB73A5CFBD5}" sibTransId="{A5F31C3F-1302-49DC-B98D-1897A005CBF2}"/>
    <dgm:cxn modelId="{9B24E106-6287-498F-8789-C4789D62716E}" srcId="{89E51028-DC89-4AB6-B9EC-915AB2066CC3}" destId="{D4222BB1-0816-4817-8280-276CA129FE61}" srcOrd="3" destOrd="0" parTransId="{9B2ED82C-7397-4421-B6BB-A5DB326D8BD5}" sibTransId="{77C95844-B4EE-4AAB-86EA-6DF8BFB99915}"/>
    <dgm:cxn modelId="{0E984F17-BF30-4600-9E7A-657745289D3F}" type="presOf" srcId="{C4FA630D-E45D-4371-9C0A-E002F8E0C395}" destId="{220553AF-9C7A-428F-A15B-A7C494CADDAD}" srcOrd="0" destOrd="0" presId="urn:microsoft.com/office/officeart/2018/5/layout/IconLeafLabelList"/>
    <dgm:cxn modelId="{C9C08C1A-692B-42AF-9658-A4870BE7484C}" type="presOf" srcId="{90121FB5-6E6F-409F-97A5-3025CB2DB17A}" destId="{B7357F8A-0CB2-4894-9B85-F0B077A2490F}" srcOrd="0" destOrd="0" presId="urn:microsoft.com/office/officeart/2018/5/layout/IconLeafLabelList"/>
    <dgm:cxn modelId="{F3B14130-8A29-4AA1-A2E0-950F839D57F9}" type="presOf" srcId="{75088E31-D52B-4872-AD09-90BCF73D0716}" destId="{54EB86C2-F464-46CF-AE35-436AD53FF5B6}" srcOrd="0" destOrd="0" presId="urn:microsoft.com/office/officeart/2018/5/layout/IconLeafLabelList"/>
    <dgm:cxn modelId="{C0F93253-0BC8-445F-A522-C2656536A0EB}" srcId="{89E51028-DC89-4AB6-B9EC-915AB2066CC3}" destId="{76C2F268-16A5-429E-906F-0F2EAA509501}" srcOrd="2" destOrd="0" parTransId="{EBA41BF0-9834-4B8A-AD97-B2966EE8C1AE}" sibTransId="{8F93767E-A368-4D73-993D-A4118D9EDB8F}"/>
    <dgm:cxn modelId="{AAC0507E-3877-45AF-A333-A269895E07AD}" srcId="{89E51028-DC89-4AB6-B9EC-915AB2066CC3}" destId="{75088E31-D52B-4872-AD09-90BCF73D0716}" srcOrd="4" destOrd="0" parTransId="{77716462-5EE4-45BB-8700-736489CDD75E}" sibTransId="{96795740-6EC9-48BE-8EFB-EAEA13BCF8BD}"/>
    <dgm:cxn modelId="{7EF58486-BF58-4FEA-A5CD-5BE5706655DF}" type="presOf" srcId="{76C2F268-16A5-429E-906F-0F2EAA509501}" destId="{60619DDC-5867-47D0-AA38-A0D56B57B6ED}" srcOrd="0" destOrd="0" presId="urn:microsoft.com/office/officeart/2018/5/layout/IconLeafLabelList"/>
    <dgm:cxn modelId="{C8D1B48D-E1BF-40F0-BDB7-EBD1C012BCFD}" type="presOf" srcId="{89E51028-DC89-4AB6-B9EC-915AB2066CC3}" destId="{2FC80F91-1854-49F2-B3E8-5081AECA4155}" srcOrd="0" destOrd="0" presId="urn:microsoft.com/office/officeart/2018/5/layout/IconLeafLabelList"/>
    <dgm:cxn modelId="{D1AFDFB5-F940-4A3D-9B09-97C8A829C8AE}" type="presOf" srcId="{D4222BB1-0816-4817-8280-276CA129FE61}" destId="{64D1505E-8D2C-43D4-A11C-796E928C7225}" srcOrd="0" destOrd="0" presId="urn:microsoft.com/office/officeart/2018/5/layout/IconLeafLabelList"/>
    <dgm:cxn modelId="{D25131BF-38A4-4A5A-9104-52631071AFEF}" srcId="{89E51028-DC89-4AB6-B9EC-915AB2066CC3}" destId="{90121FB5-6E6F-409F-97A5-3025CB2DB17A}" srcOrd="0" destOrd="0" parTransId="{2B8B617B-D1E1-4C6D-9DF9-29898A4D1C89}" sibTransId="{FDBF6A27-9A66-4CF6-A0B8-99CB0B397DD6}"/>
    <dgm:cxn modelId="{52C4F96D-7A5C-465D-911B-D38AF68A44E3}" type="presParOf" srcId="{2FC80F91-1854-49F2-B3E8-5081AECA4155}" destId="{0E0E28F7-3B23-4D50-AD34-C00A2AFE914F}" srcOrd="0" destOrd="0" presId="urn:microsoft.com/office/officeart/2018/5/layout/IconLeafLabelList"/>
    <dgm:cxn modelId="{73B77BBA-60DA-425A-B1E3-10AC3EBA1EB2}" type="presParOf" srcId="{0E0E28F7-3B23-4D50-AD34-C00A2AFE914F}" destId="{94FA8E7D-BB34-42EC-8B4F-0037D9F02DC9}" srcOrd="0" destOrd="0" presId="urn:microsoft.com/office/officeart/2018/5/layout/IconLeafLabelList"/>
    <dgm:cxn modelId="{0B1AA717-3F36-47C9-8573-DA5A225C7855}" type="presParOf" srcId="{0E0E28F7-3B23-4D50-AD34-C00A2AFE914F}" destId="{BE615156-B73E-4503-A11E-93152A19D1C1}" srcOrd="1" destOrd="0" presId="urn:microsoft.com/office/officeart/2018/5/layout/IconLeafLabelList"/>
    <dgm:cxn modelId="{BD95C3DA-9135-40E7-B01D-A13FFA447F34}" type="presParOf" srcId="{0E0E28F7-3B23-4D50-AD34-C00A2AFE914F}" destId="{A1527554-67EC-4EE6-9BC1-74E7E6F8610B}" srcOrd="2" destOrd="0" presId="urn:microsoft.com/office/officeart/2018/5/layout/IconLeafLabelList"/>
    <dgm:cxn modelId="{46CD7C06-85A6-4E38-8D92-3D4B60EF390A}" type="presParOf" srcId="{0E0E28F7-3B23-4D50-AD34-C00A2AFE914F}" destId="{B7357F8A-0CB2-4894-9B85-F0B077A2490F}" srcOrd="3" destOrd="0" presId="urn:microsoft.com/office/officeart/2018/5/layout/IconLeafLabelList"/>
    <dgm:cxn modelId="{61B0CE99-4F6F-45BC-B822-E075166D2CBE}" type="presParOf" srcId="{2FC80F91-1854-49F2-B3E8-5081AECA4155}" destId="{238783B9-83DA-4D12-BA41-BB4CE80CA390}" srcOrd="1" destOrd="0" presId="urn:microsoft.com/office/officeart/2018/5/layout/IconLeafLabelList"/>
    <dgm:cxn modelId="{CEFB26BB-C5E3-4884-ADE8-9C2886EFDF9A}" type="presParOf" srcId="{2FC80F91-1854-49F2-B3E8-5081AECA4155}" destId="{9EF382B3-580B-4A74-A47D-3A5FA78D1F52}" srcOrd="2" destOrd="0" presId="urn:microsoft.com/office/officeart/2018/5/layout/IconLeafLabelList"/>
    <dgm:cxn modelId="{B23D08E2-9BB5-4033-9246-76326537A1EE}" type="presParOf" srcId="{9EF382B3-580B-4A74-A47D-3A5FA78D1F52}" destId="{591D72E2-D0C9-4CC7-A8C4-E5C8B963CECE}" srcOrd="0" destOrd="0" presId="urn:microsoft.com/office/officeart/2018/5/layout/IconLeafLabelList"/>
    <dgm:cxn modelId="{17F67521-53D8-4CBC-B96A-7F05DFD79E31}" type="presParOf" srcId="{9EF382B3-580B-4A74-A47D-3A5FA78D1F52}" destId="{C976B3CC-A810-4182-84EE-BB3FD439C896}" srcOrd="1" destOrd="0" presId="urn:microsoft.com/office/officeart/2018/5/layout/IconLeafLabelList"/>
    <dgm:cxn modelId="{DA9D718F-0A29-44B7-AFD9-E4B55417174D}" type="presParOf" srcId="{9EF382B3-580B-4A74-A47D-3A5FA78D1F52}" destId="{B1708B7D-DC25-441D-A4FB-D79C23A7C47F}" srcOrd="2" destOrd="0" presId="urn:microsoft.com/office/officeart/2018/5/layout/IconLeafLabelList"/>
    <dgm:cxn modelId="{E63A815C-3AEF-40E4-A2DA-8ADE41303FD6}" type="presParOf" srcId="{9EF382B3-580B-4A74-A47D-3A5FA78D1F52}" destId="{220553AF-9C7A-428F-A15B-A7C494CADDAD}" srcOrd="3" destOrd="0" presId="urn:microsoft.com/office/officeart/2018/5/layout/IconLeafLabelList"/>
    <dgm:cxn modelId="{4D514639-22FF-45D5-96BE-9FE8DFB65837}" type="presParOf" srcId="{2FC80F91-1854-49F2-B3E8-5081AECA4155}" destId="{A7F1BF8E-FEFE-422F-B925-8649A0399A58}" srcOrd="3" destOrd="0" presId="urn:microsoft.com/office/officeart/2018/5/layout/IconLeafLabelList"/>
    <dgm:cxn modelId="{378E1729-224F-4F7A-AF43-9FBBBE9BEE47}" type="presParOf" srcId="{2FC80F91-1854-49F2-B3E8-5081AECA4155}" destId="{FB6F5857-4288-49CE-ABBE-4E3180A9FC60}" srcOrd="4" destOrd="0" presId="urn:microsoft.com/office/officeart/2018/5/layout/IconLeafLabelList"/>
    <dgm:cxn modelId="{B2FDCD69-F969-408D-9FC2-DF52E3A7D0D9}" type="presParOf" srcId="{FB6F5857-4288-49CE-ABBE-4E3180A9FC60}" destId="{0366BA5F-DE2D-46FF-AC5F-0181F71B44D4}" srcOrd="0" destOrd="0" presId="urn:microsoft.com/office/officeart/2018/5/layout/IconLeafLabelList"/>
    <dgm:cxn modelId="{A83C0DA1-4650-4EC3-AC89-9BD304FBEC28}" type="presParOf" srcId="{FB6F5857-4288-49CE-ABBE-4E3180A9FC60}" destId="{309AC9E2-8C84-4E97-A020-13DC85F9E853}" srcOrd="1" destOrd="0" presId="urn:microsoft.com/office/officeart/2018/5/layout/IconLeafLabelList"/>
    <dgm:cxn modelId="{F46D4D1C-F998-4274-9AE5-440C098619C1}" type="presParOf" srcId="{FB6F5857-4288-49CE-ABBE-4E3180A9FC60}" destId="{85C0245F-34B5-4B37-BF22-50ECD4EFC60A}" srcOrd="2" destOrd="0" presId="urn:microsoft.com/office/officeart/2018/5/layout/IconLeafLabelList"/>
    <dgm:cxn modelId="{9A71A089-F6D4-4FCE-BCBC-1296F69D5D9F}" type="presParOf" srcId="{FB6F5857-4288-49CE-ABBE-4E3180A9FC60}" destId="{60619DDC-5867-47D0-AA38-A0D56B57B6ED}" srcOrd="3" destOrd="0" presId="urn:microsoft.com/office/officeart/2018/5/layout/IconLeafLabelList"/>
    <dgm:cxn modelId="{F4BD0130-FBEA-42CE-B964-9103CEFE973B}" type="presParOf" srcId="{2FC80F91-1854-49F2-B3E8-5081AECA4155}" destId="{19D9C138-70F3-46DE-94A8-63C8E699A6D8}" srcOrd="5" destOrd="0" presId="urn:microsoft.com/office/officeart/2018/5/layout/IconLeafLabelList"/>
    <dgm:cxn modelId="{31168114-8721-4F8D-B2EB-3DB8653B6F6A}" type="presParOf" srcId="{2FC80F91-1854-49F2-B3E8-5081AECA4155}" destId="{6B4675DD-4483-453F-80F0-D2B7EDF05272}" srcOrd="6" destOrd="0" presId="urn:microsoft.com/office/officeart/2018/5/layout/IconLeafLabelList"/>
    <dgm:cxn modelId="{120D18E1-6B0E-48EC-816C-9C64D14AB877}" type="presParOf" srcId="{6B4675DD-4483-453F-80F0-D2B7EDF05272}" destId="{5B0511D7-E951-41D6-A040-FB7BBE80A447}" srcOrd="0" destOrd="0" presId="urn:microsoft.com/office/officeart/2018/5/layout/IconLeafLabelList"/>
    <dgm:cxn modelId="{7EEDB060-C2FD-4576-A4C8-7CA5F7F4C543}" type="presParOf" srcId="{6B4675DD-4483-453F-80F0-D2B7EDF05272}" destId="{4EFB6FFD-5DFA-4EB5-AF91-5F80A376C92E}" srcOrd="1" destOrd="0" presId="urn:microsoft.com/office/officeart/2018/5/layout/IconLeafLabelList"/>
    <dgm:cxn modelId="{218C85F8-49D0-437F-942D-8A40E3F58002}" type="presParOf" srcId="{6B4675DD-4483-453F-80F0-D2B7EDF05272}" destId="{68124178-0C81-421A-8584-45A25725E004}" srcOrd="2" destOrd="0" presId="urn:microsoft.com/office/officeart/2018/5/layout/IconLeafLabelList"/>
    <dgm:cxn modelId="{9DA1DB13-A6BB-424A-9A76-96F1EBA53EFA}" type="presParOf" srcId="{6B4675DD-4483-453F-80F0-D2B7EDF05272}" destId="{64D1505E-8D2C-43D4-A11C-796E928C7225}" srcOrd="3" destOrd="0" presId="urn:microsoft.com/office/officeart/2018/5/layout/IconLeafLabelList"/>
    <dgm:cxn modelId="{C00C1CA8-BA98-43ED-923B-B8B92D039E87}" type="presParOf" srcId="{2FC80F91-1854-49F2-B3E8-5081AECA4155}" destId="{8EC2A29D-3FFB-4433-B939-E904448003FA}" srcOrd="7" destOrd="0" presId="urn:microsoft.com/office/officeart/2018/5/layout/IconLeafLabelList"/>
    <dgm:cxn modelId="{42A1F068-1FE5-4E73-8044-D12E4CE8D59B}" type="presParOf" srcId="{2FC80F91-1854-49F2-B3E8-5081AECA4155}" destId="{85FDA231-5716-405E-98C4-2A278B8A89C9}" srcOrd="8" destOrd="0" presId="urn:microsoft.com/office/officeart/2018/5/layout/IconLeafLabelList"/>
    <dgm:cxn modelId="{BDC385C5-A2F2-4D55-ACE5-8B24FEF7D077}" type="presParOf" srcId="{85FDA231-5716-405E-98C4-2A278B8A89C9}" destId="{DD8C7FC5-B835-45C8-8EA4-9307D4EB9AE7}" srcOrd="0" destOrd="0" presId="urn:microsoft.com/office/officeart/2018/5/layout/IconLeafLabelList"/>
    <dgm:cxn modelId="{5E908AE9-E255-4486-802E-245193D2B31B}" type="presParOf" srcId="{85FDA231-5716-405E-98C4-2A278B8A89C9}" destId="{1219B796-89CF-4D6F-AA55-3AFC53ACC58E}" srcOrd="1" destOrd="0" presId="urn:microsoft.com/office/officeart/2018/5/layout/IconLeafLabelList"/>
    <dgm:cxn modelId="{46C52A04-4E7A-4AFE-8B23-7E499F9BA700}" type="presParOf" srcId="{85FDA231-5716-405E-98C4-2A278B8A89C9}" destId="{3387AC27-E4CE-468A-B67C-4326E9EDD65A}" srcOrd="2" destOrd="0" presId="urn:microsoft.com/office/officeart/2018/5/layout/IconLeafLabelList"/>
    <dgm:cxn modelId="{3C9BC6FA-9F77-4D2A-B803-6F187C839A5B}" type="presParOf" srcId="{85FDA231-5716-405E-98C4-2A278B8A89C9}" destId="{54EB86C2-F464-46CF-AE35-436AD53FF5B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2C7324-765E-49F0-8E70-A5BC671FE8D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F1688F3-D052-434C-8204-56E3581F529B}">
      <dgm:prSet/>
      <dgm:spPr/>
      <dgm:t>
        <a:bodyPr/>
        <a:lstStyle/>
        <a:p>
          <a:r>
            <a:rPr lang="en-US"/>
            <a:t>1.000 Mitarbeiter, Fokus auf Printprodukte</a:t>
          </a:r>
        </a:p>
      </dgm:t>
    </dgm:pt>
    <dgm:pt modelId="{9A0A3CD0-1F56-447D-8A49-D2EA00FBA567}" type="parTrans" cxnId="{AA300E53-478C-420D-81AE-673D24C8C6E6}">
      <dgm:prSet/>
      <dgm:spPr/>
      <dgm:t>
        <a:bodyPr/>
        <a:lstStyle/>
        <a:p>
          <a:endParaRPr lang="en-US"/>
        </a:p>
      </dgm:t>
    </dgm:pt>
    <dgm:pt modelId="{4A7AE47C-FA04-4384-BC1F-19705EA8D383}" type="sibTrans" cxnId="{AA300E53-478C-420D-81AE-673D24C8C6E6}">
      <dgm:prSet/>
      <dgm:spPr/>
      <dgm:t>
        <a:bodyPr/>
        <a:lstStyle/>
        <a:p>
          <a:endParaRPr lang="en-US"/>
        </a:p>
      </dgm:t>
    </dgm:pt>
    <dgm:pt modelId="{8153B6ED-B1C3-499D-879A-E8D0AF6EB73D}">
      <dgm:prSet/>
      <dgm:spPr/>
      <dgm:t>
        <a:bodyPr/>
        <a:lstStyle/>
        <a:p>
          <a:r>
            <a:rPr lang="en-US"/>
            <a:t>Digitalisierung verändert Konsumverhalten</a:t>
          </a:r>
        </a:p>
      </dgm:t>
    </dgm:pt>
    <dgm:pt modelId="{C6AF0FA3-EC1B-402F-9CE8-DEC3D48BFDB8}" type="parTrans" cxnId="{D581EFB2-06A9-437F-8A5C-23F1B2B0DAF6}">
      <dgm:prSet/>
      <dgm:spPr/>
      <dgm:t>
        <a:bodyPr/>
        <a:lstStyle/>
        <a:p>
          <a:endParaRPr lang="en-US"/>
        </a:p>
      </dgm:t>
    </dgm:pt>
    <dgm:pt modelId="{1F6E54A7-CE95-4AF4-8DA3-AA0A266FECB7}" type="sibTrans" cxnId="{D581EFB2-06A9-437F-8A5C-23F1B2B0DAF6}">
      <dgm:prSet/>
      <dgm:spPr/>
      <dgm:t>
        <a:bodyPr/>
        <a:lstStyle/>
        <a:p>
          <a:endParaRPr lang="en-US"/>
        </a:p>
      </dgm:t>
    </dgm:pt>
    <dgm:pt modelId="{C23DC143-D2D2-4CAF-B227-698770F07F0C}">
      <dgm:prSet/>
      <dgm:spPr/>
      <dgm:t>
        <a:bodyPr/>
        <a:lstStyle/>
        <a:p>
          <a:r>
            <a:rPr lang="en-US"/>
            <a:t>Kaum Erfahrung mit digitalen Geschäftsmodellen</a:t>
          </a:r>
        </a:p>
      </dgm:t>
    </dgm:pt>
    <dgm:pt modelId="{362CAD70-3787-4E08-A55A-C9112D9E7CE0}" type="parTrans" cxnId="{57E8C7C9-923F-42F4-8773-EABF901F65C4}">
      <dgm:prSet/>
      <dgm:spPr/>
      <dgm:t>
        <a:bodyPr/>
        <a:lstStyle/>
        <a:p>
          <a:endParaRPr lang="en-US"/>
        </a:p>
      </dgm:t>
    </dgm:pt>
    <dgm:pt modelId="{B79B2F45-17CC-42DF-9741-09DCA47AA427}" type="sibTrans" cxnId="{57E8C7C9-923F-42F4-8773-EABF901F65C4}">
      <dgm:prSet/>
      <dgm:spPr/>
      <dgm:t>
        <a:bodyPr/>
        <a:lstStyle/>
        <a:p>
          <a:endParaRPr lang="en-US"/>
        </a:p>
      </dgm:t>
    </dgm:pt>
    <dgm:pt modelId="{78988F35-83B5-48D5-B87C-7769DBB163F7}">
      <dgm:prSet/>
      <dgm:spPr/>
      <dgm:t>
        <a:bodyPr/>
        <a:lstStyle/>
        <a:p>
          <a:r>
            <a:rPr lang="en-US"/>
            <a:t>Strategische Frage: Einsatz von AI Agents?</a:t>
          </a:r>
        </a:p>
      </dgm:t>
    </dgm:pt>
    <dgm:pt modelId="{5ECB4903-C91F-4656-89D3-2EB74E6CEC28}" type="parTrans" cxnId="{188C5D72-3202-4E47-BBB4-332CC94E9220}">
      <dgm:prSet/>
      <dgm:spPr/>
      <dgm:t>
        <a:bodyPr/>
        <a:lstStyle/>
        <a:p>
          <a:endParaRPr lang="en-US"/>
        </a:p>
      </dgm:t>
    </dgm:pt>
    <dgm:pt modelId="{66E9767D-E31D-441A-9F0E-AB1F79534FF0}" type="sibTrans" cxnId="{188C5D72-3202-4E47-BBB4-332CC94E9220}">
      <dgm:prSet/>
      <dgm:spPr/>
      <dgm:t>
        <a:bodyPr/>
        <a:lstStyle/>
        <a:p>
          <a:endParaRPr lang="en-US"/>
        </a:p>
      </dgm:t>
    </dgm:pt>
    <dgm:pt modelId="{1B7A5890-589E-457A-AE22-DA5807782808}" type="pres">
      <dgm:prSet presAssocID="{EE2C7324-765E-49F0-8E70-A5BC671FE8D2}" presName="root" presStyleCnt="0">
        <dgm:presLayoutVars>
          <dgm:dir/>
          <dgm:resizeHandles val="exact"/>
        </dgm:presLayoutVars>
      </dgm:prSet>
      <dgm:spPr/>
    </dgm:pt>
    <dgm:pt modelId="{B4428CCC-4C68-432B-A657-A9ED45920C66}" type="pres">
      <dgm:prSet presAssocID="{EE2C7324-765E-49F0-8E70-A5BC671FE8D2}" presName="container" presStyleCnt="0">
        <dgm:presLayoutVars>
          <dgm:dir/>
          <dgm:resizeHandles val="exact"/>
        </dgm:presLayoutVars>
      </dgm:prSet>
      <dgm:spPr/>
    </dgm:pt>
    <dgm:pt modelId="{9926EC30-36AE-4C39-BBF0-F9EDC56A8B6A}" type="pres">
      <dgm:prSet presAssocID="{1F1688F3-D052-434C-8204-56E3581F529B}" presName="compNode" presStyleCnt="0"/>
      <dgm:spPr/>
    </dgm:pt>
    <dgm:pt modelId="{AD2091E1-DC47-4A8D-9861-ECDE7F2DD729}" type="pres">
      <dgm:prSet presAssocID="{1F1688F3-D052-434C-8204-56E3581F529B}" presName="iconBgRect" presStyleLbl="bgShp" presStyleIdx="0" presStyleCnt="4"/>
      <dgm:spPr/>
    </dgm:pt>
    <dgm:pt modelId="{98EF5F02-1C33-4CEA-984A-19499BAD0DA9}" type="pres">
      <dgm:prSet presAssocID="{1F1688F3-D052-434C-8204-56E3581F52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B4365FAE-1810-4C89-949A-597C70F23AEC}" type="pres">
      <dgm:prSet presAssocID="{1F1688F3-D052-434C-8204-56E3581F529B}" presName="spaceRect" presStyleCnt="0"/>
      <dgm:spPr/>
    </dgm:pt>
    <dgm:pt modelId="{67EA0A76-2C00-4D3B-9474-B7C75B8C4849}" type="pres">
      <dgm:prSet presAssocID="{1F1688F3-D052-434C-8204-56E3581F529B}" presName="textRect" presStyleLbl="revTx" presStyleIdx="0" presStyleCnt="4">
        <dgm:presLayoutVars>
          <dgm:chMax val="1"/>
          <dgm:chPref val="1"/>
        </dgm:presLayoutVars>
      </dgm:prSet>
      <dgm:spPr/>
    </dgm:pt>
    <dgm:pt modelId="{3DEF91B2-FC5E-42DA-841C-F29CEF516889}" type="pres">
      <dgm:prSet presAssocID="{4A7AE47C-FA04-4384-BC1F-19705EA8D383}" presName="sibTrans" presStyleLbl="sibTrans2D1" presStyleIdx="0" presStyleCnt="0"/>
      <dgm:spPr/>
    </dgm:pt>
    <dgm:pt modelId="{0842C6B5-2DBE-4105-89EC-F4D55DA73B5F}" type="pres">
      <dgm:prSet presAssocID="{8153B6ED-B1C3-499D-879A-E8D0AF6EB73D}" presName="compNode" presStyleCnt="0"/>
      <dgm:spPr/>
    </dgm:pt>
    <dgm:pt modelId="{74A19D0F-6503-46AD-9241-3A59C18E0587}" type="pres">
      <dgm:prSet presAssocID="{8153B6ED-B1C3-499D-879A-E8D0AF6EB73D}" presName="iconBgRect" presStyleLbl="bgShp" presStyleIdx="1" presStyleCnt="4"/>
      <dgm:spPr/>
    </dgm:pt>
    <dgm:pt modelId="{A4346A61-9C23-4E7A-B825-5093ACF7B2C0}" type="pres">
      <dgm:prSet presAssocID="{8153B6ED-B1C3-499D-879A-E8D0AF6EB7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D398EE83-543E-4967-A7D0-38A7F711CE2B}" type="pres">
      <dgm:prSet presAssocID="{8153B6ED-B1C3-499D-879A-E8D0AF6EB73D}" presName="spaceRect" presStyleCnt="0"/>
      <dgm:spPr/>
    </dgm:pt>
    <dgm:pt modelId="{903F4289-203C-4711-B081-C1DC21C6DA43}" type="pres">
      <dgm:prSet presAssocID="{8153B6ED-B1C3-499D-879A-E8D0AF6EB73D}" presName="textRect" presStyleLbl="revTx" presStyleIdx="1" presStyleCnt="4">
        <dgm:presLayoutVars>
          <dgm:chMax val="1"/>
          <dgm:chPref val="1"/>
        </dgm:presLayoutVars>
      </dgm:prSet>
      <dgm:spPr/>
    </dgm:pt>
    <dgm:pt modelId="{FB1E2FCB-2669-45BD-AD35-0F1FDB2C9C0E}" type="pres">
      <dgm:prSet presAssocID="{1F6E54A7-CE95-4AF4-8DA3-AA0A266FECB7}" presName="sibTrans" presStyleLbl="sibTrans2D1" presStyleIdx="0" presStyleCnt="0"/>
      <dgm:spPr/>
    </dgm:pt>
    <dgm:pt modelId="{5D1E9C28-31A3-4B91-ADB3-9BE7F58409C6}" type="pres">
      <dgm:prSet presAssocID="{C23DC143-D2D2-4CAF-B227-698770F07F0C}" presName="compNode" presStyleCnt="0"/>
      <dgm:spPr/>
    </dgm:pt>
    <dgm:pt modelId="{FC983FCC-D626-468A-870A-AF946AE7D0DA}" type="pres">
      <dgm:prSet presAssocID="{C23DC143-D2D2-4CAF-B227-698770F07F0C}" presName="iconBgRect" presStyleLbl="bgShp" presStyleIdx="2" presStyleCnt="4"/>
      <dgm:spPr/>
    </dgm:pt>
    <dgm:pt modelId="{DBC48F30-A8AE-4E0D-BB79-39EA60591C93}" type="pres">
      <dgm:prSet presAssocID="{C23DC143-D2D2-4CAF-B227-698770F07F0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FD407405-2672-4D68-A96B-364698421F08}" type="pres">
      <dgm:prSet presAssocID="{C23DC143-D2D2-4CAF-B227-698770F07F0C}" presName="spaceRect" presStyleCnt="0"/>
      <dgm:spPr/>
    </dgm:pt>
    <dgm:pt modelId="{209EFAA4-ACF2-48AA-BD0D-BC058891F03B}" type="pres">
      <dgm:prSet presAssocID="{C23DC143-D2D2-4CAF-B227-698770F07F0C}" presName="textRect" presStyleLbl="revTx" presStyleIdx="2" presStyleCnt="4">
        <dgm:presLayoutVars>
          <dgm:chMax val="1"/>
          <dgm:chPref val="1"/>
        </dgm:presLayoutVars>
      </dgm:prSet>
      <dgm:spPr/>
    </dgm:pt>
    <dgm:pt modelId="{773FA88E-9BDD-4E58-B2B3-7F73B21937B8}" type="pres">
      <dgm:prSet presAssocID="{B79B2F45-17CC-42DF-9741-09DCA47AA427}" presName="sibTrans" presStyleLbl="sibTrans2D1" presStyleIdx="0" presStyleCnt="0"/>
      <dgm:spPr/>
    </dgm:pt>
    <dgm:pt modelId="{308E9EE2-C613-4056-89A3-3906CDA114BE}" type="pres">
      <dgm:prSet presAssocID="{78988F35-83B5-48D5-B87C-7769DBB163F7}" presName="compNode" presStyleCnt="0"/>
      <dgm:spPr/>
    </dgm:pt>
    <dgm:pt modelId="{EADF6D4A-D180-47B0-A683-CBA07804AB8D}" type="pres">
      <dgm:prSet presAssocID="{78988F35-83B5-48D5-B87C-7769DBB163F7}" presName="iconBgRect" presStyleLbl="bgShp" presStyleIdx="3" presStyleCnt="4"/>
      <dgm:spPr/>
    </dgm:pt>
    <dgm:pt modelId="{84DE2A41-9257-4A98-920F-1A8B5BABAB96}" type="pres">
      <dgm:prSet presAssocID="{78988F35-83B5-48D5-B87C-7769DBB163F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er"/>
        </a:ext>
      </dgm:extLst>
    </dgm:pt>
    <dgm:pt modelId="{DCD87620-F795-40EE-8223-02B6940294C0}" type="pres">
      <dgm:prSet presAssocID="{78988F35-83B5-48D5-B87C-7769DBB163F7}" presName="spaceRect" presStyleCnt="0"/>
      <dgm:spPr/>
    </dgm:pt>
    <dgm:pt modelId="{C0C11630-2314-496B-983F-E5A946D000F7}" type="pres">
      <dgm:prSet presAssocID="{78988F35-83B5-48D5-B87C-7769DBB163F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61F2500-CE53-4AF7-B9CE-130937D1B30B}" type="presOf" srcId="{1F1688F3-D052-434C-8204-56E3581F529B}" destId="{67EA0A76-2C00-4D3B-9474-B7C75B8C4849}" srcOrd="0" destOrd="0" presId="urn:microsoft.com/office/officeart/2018/2/layout/IconCircleList"/>
    <dgm:cxn modelId="{DA112D31-0241-4178-81C5-0FDBE89FB250}" type="presOf" srcId="{78988F35-83B5-48D5-B87C-7769DBB163F7}" destId="{C0C11630-2314-496B-983F-E5A946D000F7}" srcOrd="0" destOrd="0" presId="urn:microsoft.com/office/officeart/2018/2/layout/IconCircleList"/>
    <dgm:cxn modelId="{9827F43B-45FC-4432-812A-94B66CBFCBC4}" type="presOf" srcId="{1F6E54A7-CE95-4AF4-8DA3-AA0A266FECB7}" destId="{FB1E2FCB-2669-45BD-AD35-0F1FDB2C9C0E}" srcOrd="0" destOrd="0" presId="urn:microsoft.com/office/officeart/2018/2/layout/IconCircleList"/>
    <dgm:cxn modelId="{DCBCEA43-7913-40AD-982F-F07657E97BBA}" type="presOf" srcId="{8153B6ED-B1C3-499D-879A-E8D0AF6EB73D}" destId="{903F4289-203C-4711-B081-C1DC21C6DA43}" srcOrd="0" destOrd="0" presId="urn:microsoft.com/office/officeart/2018/2/layout/IconCircleList"/>
    <dgm:cxn modelId="{188C5D72-3202-4E47-BBB4-332CC94E9220}" srcId="{EE2C7324-765E-49F0-8E70-A5BC671FE8D2}" destId="{78988F35-83B5-48D5-B87C-7769DBB163F7}" srcOrd="3" destOrd="0" parTransId="{5ECB4903-C91F-4656-89D3-2EB74E6CEC28}" sibTransId="{66E9767D-E31D-441A-9F0E-AB1F79534FF0}"/>
    <dgm:cxn modelId="{AA300E53-478C-420D-81AE-673D24C8C6E6}" srcId="{EE2C7324-765E-49F0-8E70-A5BC671FE8D2}" destId="{1F1688F3-D052-434C-8204-56E3581F529B}" srcOrd="0" destOrd="0" parTransId="{9A0A3CD0-1F56-447D-8A49-D2EA00FBA567}" sibTransId="{4A7AE47C-FA04-4384-BC1F-19705EA8D383}"/>
    <dgm:cxn modelId="{823B5A73-E5D6-4540-882F-DB2818F6B089}" type="presOf" srcId="{EE2C7324-765E-49F0-8E70-A5BC671FE8D2}" destId="{1B7A5890-589E-457A-AE22-DA5807782808}" srcOrd="0" destOrd="0" presId="urn:microsoft.com/office/officeart/2018/2/layout/IconCircleList"/>
    <dgm:cxn modelId="{D581EFB2-06A9-437F-8A5C-23F1B2B0DAF6}" srcId="{EE2C7324-765E-49F0-8E70-A5BC671FE8D2}" destId="{8153B6ED-B1C3-499D-879A-E8D0AF6EB73D}" srcOrd="1" destOrd="0" parTransId="{C6AF0FA3-EC1B-402F-9CE8-DEC3D48BFDB8}" sibTransId="{1F6E54A7-CE95-4AF4-8DA3-AA0A266FECB7}"/>
    <dgm:cxn modelId="{57E8C7C9-923F-42F4-8773-EABF901F65C4}" srcId="{EE2C7324-765E-49F0-8E70-A5BC671FE8D2}" destId="{C23DC143-D2D2-4CAF-B227-698770F07F0C}" srcOrd="2" destOrd="0" parTransId="{362CAD70-3787-4E08-A55A-C9112D9E7CE0}" sibTransId="{B79B2F45-17CC-42DF-9741-09DCA47AA427}"/>
    <dgm:cxn modelId="{12D908D2-DC71-4AAC-9FFD-E285FE1C8F68}" type="presOf" srcId="{4A7AE47C-FA04-4384-BC1F-19705EA8D383}" destId="{3DEF91B2-FC5E-42DA-841C-F29CEF516889}" srcOrd="0" destOrd="0" presId="urn:microsoft.com/office/officeart/2018/2/layout/IconCircleList"/>
    <dgm:cxn modelId="{6FB4D6E4-C838-4E2C-BA69-2B0BB51E7F44}" type="presOf" srcId="{C23DC143-D2D2-4CAF-B227-698770F07F0C}" destId="{209EFAA4-ACF2-48AA-BD0D-BC058891F03B}" srcOrd="0" destOrd="0" presId="urn:microsoft.com/office/officeart/2018/2/layout/IconCircleList"/>
    <dgm:cxn modelId="{9AD812FA-CF67-475F-8093-A3AFE7344371}" type="presOf" srcId="{B79B2F45-17CC-42DF-9741-09DCA47AA427}" destId="{773FA88E-9BDD-4E58-B2B3-7F73B21937B8}" srcOrd="0" destOrd="0" presId="urn:microsoft.com/office/officeart/2018/2/layout/IconCircleList"/>
    <dgm:cxn modelId="{E10702AE-DC6A-4081-AE0E-047568DD6CD7}" type="presParOf" srcId="{1B7A5890-589E-457A-AE22-DA5807782808}" destId="{B4428CCC-4C68-432B-A657-A9ED45920C66}" srcOrd="0" destOrd="0" presId="urn:microsoft.com/office/officeart/2018/2/layout/IconCircleList"/>
    <dgm:cxn modelId="{3A9B2965-E4B0-439E-A944-366D298B4694}" type="presParOf" srcId="{B4428CCC-4C68-432B-A657-A9ED45920C66}" destId="{9926EC30-36AE-4C39-BBF0-F9EDC56A8B6A}" srcOrd="0" destOrd="0" presId="urn:microsoft.com/office/officeart/2018/2/layout/IconCircleList"/>
    <dgm:cxn modelId="{0AE69819-BCA2-4A91-AB4F-4BF65105DD76}" type="presParOf" srcId="{9926EC30-36AE-4C39-BBF0-F9EDC56A8B6A}" destId="{AD2091E1-DC47-4A8D-9861-ECDE7F2DD729}" srcOrd="0" destOrd="0" presId="urn:microsoft.com/office/officeart/2018/2/layout/IconCircleList"/>
    <dgm:cxn modelId="{15F7CB0C-2CDA-42D3-AE35-38D2363B5333}" type="presParOf" srcId="{9926EC30-36AE-4C39-BBF0-F9EDC56A8B6A}" destId="{98EF5F02-1C33-4CEA-984A-19499BAD0DA9}" srcOrd="1" destOrd="0" presId="urn:microsoft.com/office/officeart/2018/2/layout/IconCircleList"/>
    <dgm:cxn modelId="{0BCB07F4-8F37-41F0-8367-A6FC3714C83B}" type="presParOf" srcId="{9926EC30-36AE-4C39-BBF0-F9EDC56A8B6A}" destId="{B4365FAE-1810-4C89-949A-597C70F23AEC}" srcOrd="2" destOrd="0" presId="urn:microsoft.com/office/officeart/2018/2/layout/IconCircleList"/>
    <dgm:cxn modelId="{078D7B0B-07AA-4FCD-BA05-5D0166CC2961}" type="presParOf" srcId="{9926EC30-36AE-4C39-BBF0-F9EDC56A8B6A}" destId="{67EA0A76-2C00-4D3B-9474-B7C75B8C4849}" srcOrd="3" destOrd="0" presId="urn:microsoft.com/office/officeart/2018/2/layout/IconCircleList"/>
    <dgm:cxn modelId="{875ED64F-6B8B-4E63-A38F-0ACFFB97B72F}" type="presParOf" srcId="{B4428CCC-4C68-432B-A657-A9ED45920C66}" destId="{3DEF91B2-FC5E-42DA-841C-F29CEF516889}" srcOrd="1" destOrd="0" presId="urn:microsoft.com/office/officeart/2018/2/layout/IconCircleList"/>
    <dgm:cxn modelId="{37F32CD5-5BAE-4222-9740-448140ECE519}" type="presParOf" srcId="{B4428CCC-4C68-432B-A657-A9ED45920C66}" destId="{0842C6B5-2DBE-4105-89EC-F4D55DA73B5F}" srcOrd="2" destOrd="0" presId="urn:microsoft.com/office/officeart/2018/2/layout/IconCircleList"/>
    <dgm:cxn modelId="{219A7050-5B64-4A8E-8816-9D5213905C18}" type="presParOf" srcId="{0842C6B5-2DBE-4105-89EC-F4D55DA73B5F}" destId="{74A19D0F-6503-46AD-9241-3A59C18E0587}" srcOrd="0" destOrd="0" presId="urn:microsoft.com/office/officeart/2018/2/layout/IconCircleList"/>
    <dgm:cxn modelId="{9700B63E-53BA-485A-97A0-6E43B8B3F32E}" type="presParOf" srcId="{0842C6B5-2DBE-4105-89EC-F4D55DA73B5F}" destId="{A4346A61-9C23-4E7A-B825-5093ACF7B2C0}" srcOrd="1" destOrd="0" presId="urn:microsoft.com/office/officeart/2018/2/layout/IconCircleList"/>
    <dgm:cxn modelId="{4A4B10B3-A785-4007-B541-EF5337DAD997}" type="presParOf" srcId="{0842C6B5-2DBE-4105-89EC-F4D55DA73B5F}" destId="{D398EE83-543E-4967-A7D0-38A7F711CE2B}" srcOrd="2" destOrd="0" presId="urn:microsoft.com/office/officeart/2018/2/layout/IconCircleList"/>
    <dgm:cxn modelId="{8B7969DA-F869-4A77-8810-64FCCDCD497B}" type="presParOf" srcId="{0842C6B5-2DBE-4105-89EC-F4D55DA73B5F}" destId="{903F4289-203C-4711-B081-C1DC21C6DA43}" srcOrd="3" destOrd="0" presId="urn:microsoft.com/office/officeart/2018/2/layout/IconCircleList"/>
    <dgm:cxn modelId="{AA225FBE-8DA4-40E5-BAE2-088C22B4EA5D}" type="presParOf" srcId="{B4428CCC-4C68-432B-A657-A9ED45920C66}" destId="{FB1E2FCB-2669-45BD-AD35-0F1FDB2C9C0E}" srcOrd="3" destOrd="0" presId="urn:microsoft.com/office/officeart/2018/2/layout/IconCircleList"/>
    <dgm:cxn modelId="{85F74F62-D2BD-452A-9F21-57A66FAE4A7D}" type="presParOf" srcId="{B4428CCC-4C68-432B-A657-A9ED45920C66}" destId="{5D1E9C28-31A3-4B91-ADB3-9BE7F58409C6}" srcOrd="4" destOrd="0" presId="urn:microsoft.com/office/officeart/2018/2/layout/IconCircleList"/>
    <dgm:cxn modelId="{178FD4CD-4870-4E96-8209-D810135720F6}" type="presParOf" srcId="{5D1E9C28-31A3-4B91-ADB3-9BE7F58409C6}" destId="{FC983FCC-D626-468A-870A-AF946AE7D0DA}" srcOrd="0" destOrd="0" presId="urn:microsoft.com/office/officeart/2018/2/layout/IconCircleList"/>
    <dgm:cxn modelId="{8DA1ED11-AFBD-494D-BE59-BF031C4E236B}" type="presParOf" srcId="{5D1E9C28-31A3-4B91-ADB3-9BE7F58409C6}" destId="{DBC48F30-A8AE-4E0D-BB79-39EA60591C93}" srcOrd="1" destOrd="0" presId="urn:microsoft.com/office/officeart/2018/2/layout/IconCircleList"/>
    <dgm:cxn modelId="{AF8655EB-10EF-4D85-A68B-B71D6177A8D1}" type="presParOf" srcId="{5D1E9C28-31A3-4B91-ADB3-9BE7F58409C6}" destId="{FD407405-2672-4D68-A96B-364698421F08}" srcOrd="2" destOrd="0" presId="urn:microsoft.com/office/officeart/2018/2/layout/IconCircleList"/>
    <dgm:cxn modelId="{D4585448-6918-4E84-81B7-1A0D1EDE533B}" type="presParOf" srcId="{5D1E9C28-31A3-4B91-ADB3-9BE7F58409C6}" destId="{209EFAA4-ACF2-48AA-BD0D-BC058891F03B}" srcOrd="3" destOrd="0" presId="urn:microsoft.com/office/officeart/2018/2/layout/IconCircleList"/>
    <dgm:cxn modelId="{7573E40A-81D4-4660-8E97-013CDF499677}" type="presParOf" srcId="{B4428CCC-4C68-432B-A657-A9ED45920C66}" destId="{773FA88E-9BDD-4E58-B2B3-7F73B21937B8}" srcOrd="5" destOrd="0" presId="urn:microsoft.com/office/officeart/2018/2/layout/IconCircleList"/>
    <dgm:cxn modelId="{BB11F841-49CB-4A64-B710-58976DBE752E}" type="presParOf" srcId="{B4428CCC-4C68-432B-A657-A9ED45920C66}" destId="{308E9EE2-C613-4056-89A3-3906CDA114BE}" srcOrd="6" destOrd="0" presId="urn:microsoft.com/office/officeart/2018/2/layout/IconCircleList"/>
    <dgm:cxn modelId="{16CC0FC4-FEC6-4BA5-BA28-C2F5D831F32E}" type="presParOf" srcId="{308E9EE2-C613-4056-89A3-3906CDA114BE}" destId="{EADF6D4A-D180-47B0-A683-CBA07804AB8D}" srcOrd="0" destOrd="0" presId="urn:microsoft.com/office/officeart/2018/2/layout/IconCircleList"/>
    <dgm:cxn modelId="{6DE6D375-96F6-4F54-A143-19C5899F715B}" type="presParOf" srcId="{308E9EE2-C613-4056-89A3-3906CDA114BE}" destId="{84DE2A41-9257-4A98-920F-1A8B5BABAB96}" srcOrd="1" destOrd="0" presId="urn:microsoft.com/office/officeart/2018/2/layout/IconCircleList"/>
    <dgm:cxn modelId="{7AFFE227-9998-46B6-9317-479B86B49F75}" type="presParOf" srcId="{308E9EE2-C613-4056-89A3-3906CDA114BE}" destId="{DCD87620-F795-40EE-8223-02B6940294C0}" srcOrd="2" destOrd="0" presId="urn:microsoft.com/office/officeart/2018/2/layout/IconCircleList"/>
    <dgm:cxn modelId="{9B302A21-9FFF-44D1-8B64-CBFFEA4273AA}" type="presParOf" srcId="{308E9EE2-C613-4056-89A3-3906CDA114BE}" destId="{C0C11630-2314-496B-983F-E5A946D000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A8E7D-BB34-42EC-8B4F-0037D9F02DC9}">
      <dsp:nvSpPr>
        <dsp:cNvPr id="0" name=""/>
        <dsp:cNvSpPr/>
      </dsp:nvSpPr>
      <dsp:spPr>
        <a:xfrm>
          <a:off x="275380" y="823259"/>
          <a:ext cx="846017" cy="8460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15156-B73E-4503-A11E-93152A19D1C1}">
      <dsp:nvSpPr>
        <dsp:cNvPr id="0" name=""/>
        <dsp:cNvSpPr/>
      </dsp:nvSpPr>
      <dsp:spPr>
        <a:xfrm>
          <a:off x="455679" y="1003558"/>
          <a:ext cx="485419" cy="4854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57F8A-0CB2-4894-9B85-F0B077A2490F}">
      <dsp:nvSpPr>
        <dsp:cNvPr id="0" name=""/>
        <dsp:cNvSpPr/>
      </dsp:nvSpPr>
      <dsp:spPr>
        <a:xfrm>
          <a:off x="4932" y="1932790"/>
          <a:ext cx="1386914" cy="55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Strengths (Stärken)</a:t>
          </a:r>
        </a:p>
      </dsp:txBody>
      <dsp:txXfrm>
        <a:off x="4932" y="1932790"/>
        <a:ext cx="1386914" cy="554765"/>
      </dsp:txXfrm>
    </dsp:sp>
    <dsp:sp modelId="{591D72E2-D0C9-4CC7-A8C4-E5C8B963CECE}">
      <dsp:nvSpPr>
        <dsp:cNvPr id="0" name=""/>
        <dsp:cNvSpPr/>
      </dsp:nvSpPr>
      <dsp:spPr>
        <a:xfrm>
          <a:off x="1905004" y="823259"/>
          <a:ext cx="846017" cy="8460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6B3CC-A810-4182-84EE-BB3FD439C896}">
      <dsp:nvSpPr>
        <dsp:cNvPr id="0" name=""/>
        <dsp:cNvSpPr/>
      </dsp:nvSpPr>
      <dsp:spPr>
        <a:xfrm>
          <a:off x="2085303" y="1003558"/>
          <a:ext cx="485419" cy="4854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553AF-9C7A-428F-A15B-A7C494CADDAD}">
      <dsp:nvSpPr>
        <dsp:cNvPr id="0" name=""/>
        <dsp:cNvSpPr/>
      </dsp:nvSpPr>
      <dsp:spPr>
        <a:xfrm>
          <a:off x="1634556" y="1932790"/>
          <a:ext cx="1386914" cy="55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Weaknesses (</a:t>
          </a:r>
          <a:r>
            <a:rPr lang="en-US" sz="1100" kern="1200" dirty="0" err="1"/>
            <a:t>Schwächen</a:t>
          </a:r>
          <a:r>
            <a:rPr lang="en-US" sz="1100" kern="1200" dirty="0"/>
            <a:t>)</a:t>
          </a:r>
        </a:p>
      </dsp:txBody>
      <dsp:txXfrm>
        <a:off x="1634556" y="1932790"/>
        <a:ext cx="1386914" cy="554765"/>
      </dsp:txXfrm>
    </dsp:sp>
    <dsp:sp modelId="{0366BA5F-DE2D-46FF-AC5F-0181F71B44D4}">
      <dsp:nvSpPr>
        <dsp:cNvPr id="0" name=""/>
        <dsp:cNvSpPr/>
      </dsp:nvSpPr>
      <dsp:spPr>
        <a:xfrm>
          <a:off x="3534628" y="823259"/>
          <a:ext cx="846017" cy="8460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AC9E2-8C84-4E97-A020-13DC85F9E853}">
      <dsp:nvSpPr>
        <dsp:cNvPr id="0" name=""/>
        <dsp:cNvSpPr/>
      </dsp:nvSpPr>
      <dsp:spPr>
        <a:xfrm>
          <a:off x="3714927" y="1003558"/>
          <a:ext cx="485419" cy="4854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19DDC-5867-47D0-AA38-A0D56B57B6ED}">
      <dsp:nvSpPr>
        <dsp:cNvPr id="0" name=""/>
        <dsp:cNvSpPr/>
      </dsp:nvSpPr>
      <dsp:spPr>
        <a:xfrm>
          <a:off x="3264180" y="1932790"/>
          <a:ext cx="1386914" cy="55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Opportunities (Chancen)</a:t>
          </a:r>
        </a:p>
      </dsp:txBody>
      <dsp:txXfrm>
        <a:off x="3264180" y="1932790"/>
        <a:ext cx="1386914" cy="554765"/>
      </dsp:txXfrm>
    </dsp:sp>
    <dsp:sp modelId="{5B0511D7-E951-41D6-A040-FB7BBE80A447}">
      <dsp:nvSpPr>
        <dsp:cNvPr id="0" name=""/>
        <dsp:cNvSpPr/>
      </dsp:nvSpPr>
      <dsp:spPr>
        <a:xfrm>
          <a:off x="5164252" y="823259"/>
          <a:ext cx="846017" cy="8460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B6FFD-5DFA-4EB5-AF91-5F80A376C92E}">
      <dsp:nvSpPr>
        <dsp:cNvPr id="0" name=""/>
        <dsp:cNvSpPr/>
      </dsp:nvSpPr>
      <dsp:spPr>
        <a:xfrm>
          <a:off x="5344551" y="1003558"/>
          <a:ext cx="485419" cy="4854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1505E-8D2C-43D4-A11C-796E928C7225}">
      <dsp:nvSpPr>
        <dsp:cNvPr id="0" name=""/>
        <dsp:cNvSpPr/>
      </dsp:nvSpPr>
      <dsp:spPr>
        <a:xfrm>
          <a:off x="4893804" y="1932790"/>
          <a:ext cx="1386914" cy="55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Threats (Bedrohungen)</a:t>
          </a:r>
        </a:p>
      </dsp:txBody>
      <dsp:txXfrm>
        <a:off x="4893804" y="1932790"/>
        <a:ext cx="1386914" cy="554765"/>
      </dsp:txXfrm>
    </dsp:sp>
    <dsp:sp modelId="{DD8C7FC5-B835-45C8-8EA4-9307D4EB9AE7}">
      <dsp:nvSpPr>
        <dsp:cNvPr id="0" name=""/>
        <dsp:cNvSpPr/>
      </dsp:nvSpPr>
      <dsp:spPr>
        <a:xfrm>
          <a:off x="6793876" y="823259"/>
          <a:ext cx="846017" cy="8460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9B796-89CF-4D6F-AA55-3AFC53ACC58E}">
      <dsp:nvSpPr>
        <dsp:cNvPr id="0" name=""/>
        <dsp:cNvSpPr/>
      </dsp:nvSpPr>
      <dsp:spPr>
        <a:xfrm>
          <a:off x="6974175" y="1003558"/>
          <a:ext cx="485419" cy="4854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B86C2-F464-46CF-AE35-436AD53FF5B6}">
      <dsp:nvSpPr>
        <dsp:cNvPr id="0" name=""/>
        <dsp:cNvSpPr/>
      </dsp:nvSpPr>
      <dsp:spPr>
        <a:xfrm>
          <a:off x="6523428" y="1932790"/>
          <a:ext cx="1386914" cy="55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Werkzeug zur strategischen Analyse interner und externer Faktoren</a:t>
          </a:r>
        </a:p>
      </dsp:txBody>
      <dsp:txXfrm>
        <a:off x="6523428" y="1932790"/>
        <a:ext cx="1386914" cy="5547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091E1-DC47-4A8D-9861-ECDE7F2DD729}">
      <dsp:nvSpPr>
        <dsp:cNvPr id="0" name=""/>
        <dsp:cNvSpPr/>
      </dsp:nvSpPr>
      <dsp:spPr>
        <a:xfrm>
          <a:off x="151886" y="388698"/>
          <a:ext cx="1007669" cy="1007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F5F02-1C33-4CEA-984A-19499BAD0DA9}">
      <dsp:nvSpPr>
        <dsp:cNvPr id="0" name=""/>
        <dsp:cNvSpPr/>
      </dsp:nvSpPr>
      <dsp:spPr>
        <a:xfrm>
          <a:off x="363497" y="600308"/>
          <a:ext cx="584448" cy="5844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A0A76-2C00-4D3B-9474-B7C75B8C4849}">
      <dsp:nvSpPr>
        <dsp:cNvPr id="0" name=""/>
        <dsp:cNvSpPr/>
      </dsp:nvSpPr>
      <dsp:spPr>
        <a:xfrm>
          <a:off x="1375485" y="388698"/>
          <a:ext cx="2375220" cy="100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1.000 Mitarbeiter, Fokus auf Printprodukte</a:t>
          </a:r>
        </a:p>
      </dsp:txBody>
      <dsp:txXfrm>
        <a:off x="1375485" y="388698"/>
        <a:ext cx="2375220" cy="1007669"/>
      </dsp:txXfrm>
    </dsp:sp>
    <dsp:sp modelId="{74A19D0F-6503-46AD-9241-3A59C18E0587}">
      <dsp:nvSpPr>
        <dsp:cNvPr id="0" name=""/>
        <dsp:cNvSpPr/>
      </dsp:nvSpPr>
      <dsp:spPr>
        <a:xfrm>
          <a:off x="4164569" y="388698"/>
          <a:ext cx="1007669" cy="1007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46A61-9C23-4E7A-B825-5093ACF7B2C0}">
      <dsp:nvSpPr>
        <dsp:cNvPr id="0" name=""/>
        <dsp:cNvSpPr/>
      </dsp:nvSpPr>
      <dsp:spPr>
        <a:xfrm>
          <a:off x="4376180" y="600308"/>
          <a:ext cx="584448" cy="5844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F4289-203C-4711-B081-C1DC21C6DA43}">
      <dsp:nvSpPr>
        <dsp:cNvPr id="0" name=""/>
        <dsp:cNvSpPr/>
      </dsp:nvSpPr>
      <dsp:spPr>
        <a:xfrm>
          <a:off x="5388167" y="388698"/>
          <a:ext cx="2375220" cy="100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Digitalisierung verändert Konsumverhalten</a:t>
          </a:r>
        </a:p>
      </dsp:txBody>
      <dsp:txXfrm>
        <a:off x="5388167" y="388698"/>
        <a:ext cx="2375220" cy="1007669"/>
      </dsp:txXfrm>
    </dsp:sp>
    <dsp:sp modelId="{FC983FCC-D626-468A-870A-AF946AE7D0DA}">
      <dsp:nvSpPr>
        <dsp:cNvPr id="0" name=""/>
        <dsp:cNvSpPr/>
      </dsp:nvSpPr>
      <dsp:spPr>
        <a:xfrm>
          <a:off x="151886" y="1968373"/>
          <a:ext cx="1007669" cy="1007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C48F30-A8AE-4E0D-BB79-39EA60591C93}">
      <dsp:nvSpPr>
        <dsp:cNvPr id="0" name=""/>
        <dsp:cNvSpPr/>
      </dsp:nvSpPr>
      <dsp:spPr>
        <a:xfrm>
          <a:off x="363497" y="2179984"/>
          <a:ext cx="584448" cy="5844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EFAA4-ACF2-48AA-BD0D-BC058891F03B}">
      <dsp:nvSpPr>
        <dsp:cNvPr id="0" name=""/>
        <dsp:cNvSpPr/>
      </dsp:nvSpPr>
      <dsp:spPr>
        <a:xfrm>
          <a:off x="1375485" y="1968373"/>
          <a:ext cx="2375220" cy="100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Kaum Erfahrung mit digitalen Geschäftsmodellen</a:t>
          </a:r>
        </a:p>
      </dsp:txBody>
      <dsp:txXfrm>
        <a:off x="1375485" y="1968373"/>
        <a:ext cx="2375220" cy="1007669"/>
      </dsp:txXfrm>
    </dsp:sp>
    <dsp:sp modelId="{EADF6D4A-D180-47B0-A683-CBA07804AB8D}">
      <dsp:nvSpPr>
        <dsp:cNvPr id="0" name=""/>
        <dsp:cNvSpPr/>
      </dsp:nvSpPr>
      <dsp:spPr>
        <a:xfrm>
          <a:off x="4164569" y="1968373"/>
          <a:ext cx="1007669" cy="1007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E2A41-9257-4A98-920F-1A8B5BABAB96}">
      <dsp:nvSpPr>
        <dsp:cNvPr id="0" name=""/>
        <dsp:cNvSpPr/>
      </dsp:nvSpPr>
      <dsp:spPr>
        <a:xfrm>
          <a:off x="4376180" y="2179984"/>
          <a:ext cx="584448" cy="5844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11630-2314-496B-983F-E5A946D000F7}">
      <dsp:nvSpPr>
        <dsp:cNvPr id="0" name=""/>
        <dsp:cNvSpPr/>
      </dsp:nvSpPr>
      <dsp:spPr>
        <a:xfrm>
          <a:off x="5388167" y="1968373"/>
          <a:ext cx="2375220" cy="100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Strategische Frage: Einsatz von AI Agents?</a:t>
          </a:r>
        </a:p>
      </dsp:txBody>
      <dsp:txXfrm>
        <a:off x="5388167" y="1968373"/>
        <a:ext cx="2375220" cy="1007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3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55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3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3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4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55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3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0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58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06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58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2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13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upe, die sinkende Leistung zeigt">
            <a:extLst>
              <a:ext uri="{FF2B5EF4-FFF2-40B4-BE49-F238E27FC236}">
                <a16:creationId xmlns:a16="http://schemas.microsoft.com/office/drawing/2014/main" id="{6C56844C-B731-EEF6-18AA-508BD635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2474" r="43037" b="-2"/>
          <a:stretch>
            <a:fillRect/>
          </a:stretch>
        </p:blipFill>
        <p:spPr>
          <a:xfrm>
            <a:off x="4581525" y="-1"/>
            <a:ext cx="4570837" cy="6858001"/>
          </a:xfrm>
          <a:prstGeom prst="rect">
            <a:avLst/>
          </a:prstGeom>
        </p:spPr>
      </p:pic>
      <p:sp>
        <p:nvSpPr>
          <p:cNvPr id="9" name="Freeform 16">
            <a:extLst>
              <a:ext uri="{FF2B5EF4-FFF2-40B4-BE49-F238E27FC236}">
                <a16:creationId xmlns:a16="http://schemas.microsoft.com/office/drawing/2014/main" id="{8977846B-3E2A-49C0-873D-DADC1D67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864100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3802575" cy="15594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800" dirty="0"/>
              <a:t>SWOT-Analyse.</a:t>
            </a:r>
          </a:p>
          <a:p>
            <a:pPr>
              <a:lnSpc>
                <a:spcPct val="90000"/>
              </a:lnSpc>
            </a:pPr>
            <a:r>
              <a:rPr lang="de-DE" sz="2800" dirty="0"/>
              <a:t>AI </a:t>
            </a:r>
            <a:r>
              <a:rPr lang="de-DE" sz="2800" dirty="0" err="1"/>
              <a:t>Agents</a:t>
            </a:r>
            <a:r>
              <a:rPr lang="de-DE" sz="2800" dirty="0"/>
              <a:t> im Medienunternehmen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133" y="1827784"/>
            <a:ext cx="3791942" cy="48747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de-DE" sz="1400" dirty="0"/>
              <a:t>Strategische Analyse zum Einsatz von AI </a:t>
            </a:r>
            <a:r>
              <a:rPr lang="de-DE" sz="1400" dirty="0" err="1"/>
              <a:t>Agents</a:t>
            </a:r>
            <a:r>
              <a:rPr lang="de-DE" sz="1400" dirty="0"/>
              <a:t> in einem Medienunternehmen</a:t>
            </a:r>
          </a:p>
          <a:p>
            <a:pPr>
              <a:lnSpc>
                <a:spcPct val="90000"/>
              </a:lnSpc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endParaRPr lang="de-DE" sz="1400" dirty="0"/>
          </a:p>
          <a:p>
            <a:pPr marL="0" indent="0">
              <a:lnSpc>
                <a:spcPct val="90000"/>
              </a:lnSpc>
              <a:buNone/>
            </a:pPr>
            <a:r>
              <a:rPr lang="de-DE" sz="1400" dirty="0"/>
              <a:t>Dmytro, Dustin, Leandro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04FB0A-3918-43DC-83E9-600217A87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1D1DF376-FCFE-4FC3-A377-79806F988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707" cy="6858000"/>
          </a:xfrm>
          <a:custGeom>
            <a:avLst/>
            <a:gdLst>
              <a:gd name="connsiteX0" fmla="*/ 0 w 7552944"/>
              <a:gd name="connsiteY0" fmla="*/ 0 h 6858000"/>
              <a:gd name="connsiteX1" fmla="*/ 1067477 w 7552944"/>
              <a:gd name="connsiteY1" fmla="*/ 0 h 6858000"/>
              <a:gd name="connsiteX2" fmla="*/ 2201779 w 7552944"/>
              <a:gd name="connsiteY2" fmla="*/ 0 h 6858000"/>
              <a:gd name="connsiteX3" fmla="*/ 7552944 w 7552944"/>
              <a:gd name="connsiteY3" fmla="*/ 0 h 6858000"/>
              <a:gd name="connsiteX4" fmla="*/ 7552944 w 7552944"/>
              <a:gd name="connsiteY4" fmla="*/ 1900238 h 6858000"/>
              <a:gd name="connsiteX5" fmla="*/ 7182528 w 7552944"/>
              <a:gd name="connsiteY5" fmla="*/ 2178050 h 6858000"/>
              <a:gd name="connsiteX6" fmla="*/ 7178294 w 7552944"/>
              <a:gd name="connsiteY6" fmla="*/ 2184400 h 6858000"/>
              <a:gd name="connsiteX7" fmla="*/ 7171944 w 7552944"/>
              <a:gd name="connsiteY7" fmla="*/ 2193925 h 6858000"/>
              <a:gd name="connsiteX8" fmla="*/ 7165594 w 7552944"/>
              <a:gd name="connsiteY8" fmla="*/ 2201863 h 6858000"/>
              <a:gd name="connsiteX9" fmla="*/ 7165594 w 7552944"/>
              <a:gd name="connsiteY9" fmla="*/ 2211388 h 6858000"/>
              <a:gd name="connsiteX10" fmla="*/ 7165594 w 7552944"/>
              <a:gd name="connsiteY10" fmla="*/ 2220913 h 6858000"/>
              <a:gd name="connsiteX11" fmla="*/ 7171944 w 7552944"/>
              <a:gd name="connsiteY11" fmla="*/ 2228850 h 6858000"/>
              <a:gd name="connsiteX12" fmla="*/ 7178294 w 7552944"/>
              <a:gd name="connsiteY12" fmla="*/ 2238375 h 6858000"/>
              <a:gd name="connsiteX13" fmla="*/ 7182528 w 7552944"/>
              <a:gd name="connsiteY13" fmla="*/ 2244725 h 6858000"/>
              <a:gd name="connsiteX14" fmla="*/ 7552944 w 7552944"/>
              <a:gd name="connsiteY14" fmla="*/ 2522538 h 6858000"/>
              <a:gd name="connsiteX15" fmla="*/ 7552944 w 7552944"/>
              <a:gd name="connsiteY15" fmla="*/ 6858000 h 6858000"/>
              <a:gd name="connsiteX16" fmla="*/ 2201779 w 7552944"/>
              <a:gd name="connsiteY16" fmla="*/ 6858000 h 6858000"/>
              <a:gd name="connsiteX17" fmla="*/ 1067477 w 7552944"/>
              <a:gd name="connsiteY17" fmla="*/ 6858000 h 6858000"/>
              <a:gd name="connsiteX18" fmla="*/ 0 w 7552944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552944" h="6858000">
                <a:moveTo>
                  <a:pt x="0" y="0"/>
                </a:moveTo>
                <a:lnTo>
                  <a:pt x="1067477" y="0"/>
                </a:lnTo>
                <a:lnTo>
                  <a:pt x="2201779" y="0"/>
                </a:lnTo>
                <a:lnTo>
                  <a:pt x="7552944" y="0"/>
                </a:lnTo>
                <a:lnTo>
                  <a:pt x="7552944" y="1900238"/>
                </a:lnTo>
                <a:lnTo>
                  <a:pt x="7182528" y="2178050"/>
                </a:lnTo>
                <a:lnTo>
                  <a:pt x="7178294" y="2184400"/>
                </a:lnTo>
                <a:lnTo>
                  <a:pt x="7171944" y="2193925"/>
                </a:lnTo>
                <a:lnTo>
                  <a:pt x="7165594" y="2201863"/>
                </a:lnTo>
                <a:lnTo>
                  <a:pt x="7165594" y="2211388"/>
                </a:lnTo>
                <a:lnTo>
                  <a:pt x="7165594" y="2220913"/>
                </a:lnTo>
                <a:lnTo>
                  <a:pt x="7171944" y="2228850"/>
                </a:lnTo>
                <a:lnTo>
                  <a:pt x="7178294" y="2238375"/>
                </a:lnTo>
                <a:lnTo>
                  <a:pt x="7182528" y="2244725"/>
                </a:lnTo>
                <a:lnTo>
                  <a:pt x="7552944" y="2522538"/>
                </a:lnTo>
                <a:lnTo>
                  <a:pt x="7552944" y="6858000"/>
                </a:lnTo>
                <a:lnTo>
                  <a:pt x="2201779" y="6858000"/>
                </a:lnTo>
                <a:lnTo>
                  <a:pt x="106747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4573466" cy="1559412"/>
          </a:xfrm>
        </p:spPr>
        <p:txBody>
          <a:bodyPr>
            <a:normAutofit/>
          </a:bodyPr>
          <a:lstStyle/>
          <a:p>
            <a:r>
              <a:t>Was sind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413000"/>
            <a:ext cx="4556384" cy="363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 err="1"/>
              <a:t>Intelligente</a:t>
            </a:r>
            <a:r>
              <a:rPr dirty="0"/>
              <a:t> </a:t>
            </a:r>
            <a:r>
              <a:rPr dirty="0" err="1"/>
              <a:t>Softwareprogramme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eigenständiger</a:t>
            </a:r>
            <a:r>
              <a:rPr dirty="0"/>
              <a:t> </a:t>
            </a:r>
            <a:r>
              <a:rPr dirty="0" err="1"/>
              <a:t>Aufgabenbearbeitung</a:t>
            </a:r>
            <a:endParaRPr lang="de-DE" dirty="0"/>
          </a:p>
          <a:p>
            <a:pPr>
              <a:lnSpc>
                <a:spcPct val="90000"/>
              </a:lnSpc>
            </a:pPr>
            <a:r>
              <a:rPr dirty="0"/>
              <a:t>Verstehen </a:t>
            </a:r>
            <a:r>
              <a:rPr dirty="0" err="1"/>
              <a:t>natürliche</a:t>
            </a:r>
            <a:r>
              <a:rPr dirty="0"/>
              <a:t> </a:t>
            </a:r>
            <a:r>
              <a:rPr dirty="0" err="1"/>
              <a:t>Sprache</a:t>
            </a:r>
            <a:r>
              <a:rPr dirty="0"/>
              <a:t> und </a:t>
            </a:r>
            <a:r>
              <a:rPr dirty="0" err="1"/>
              <a:t>kommunizieren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Menschen</a:t>
            </a:r>
            <a:endParaRPr lang="de-DE" dirty="0"/>
          </a:p>
          <a:p>
            <a:pPr>
              <a:lnSpc>
                <a:spcPct val="90000"/>
              </a:lnSpc>
            </a:pPr>
            <a:r>
              <a:rPr dirty="0"/>
              <a:t>Treffen </a:t>
            </a:r>
            <a:r>
              <a:rPr dirty="0" err="1"/>
              <a:t>Entscheidungen</a:t>
            </a:r>
            <a:r>
              <a:rPr dirty="0"/>
              <a:t> und </a:t>
            </a:r>
            <a:r>
              <a:rPr dirty="0" err="1"/>
              <a:t>lösen</a:t>
            </a:r>
            <a:r>
              <a:rPr dirty="0"/>
              <a:t> </a:t>
            </a:r>
            <a:r>
              <a:rPr dirty="0" err="1"/>
              <a:t>Probleme</a:t>
            </a:r>
            <a:r>
              <a:rPr dirty="0"/>
              <a:t> </a:t>
            </a:r>
            <a:r>
              <a:rPr dirty="0" err="1"/>
              <a:t>selbstständig</a:t>
            </a:r>
            <a:endParaRPr lang="de-DE" dirty="0"/>
          </a:p>
          <a:p>
            <a:pPr>
              <a:lnSpc>
                <a:spcPct val="90000"/>
              </a:lnSpc>
            </a:pPr>
            <a:r>
              <a:rPr dirty="0" err="1"/>
              <a:t>Beispiele</a:t>
            </a:r>
            <a:r>
              <a:rPr dirty="0"/>
              <a:t>: ChatGPT, Claude, GitHub Copilot</a:t>
            </a:r>
            <a:r>
              <a:rPr lang="de-DE" dirty="0"/>
              <a:t> </a:t>
            </a:r>
            <a:r>
              <a:rPr lang="de-DE" dirty="0" err="1"/>
              <a:t>u.s.w</a:t>
            </a:r>
            <a:r>
              <a:rPr lang="de-DE" dirty="0"/>
              <a:t>.</a:t>
            </a:r>
          </a:p>
          <a:p>
            <a:pPr>
              <a:lnSpc>
                <a:spcPct val="90000"/>
              </a:lnSpc>
            </a:pPr>
            <a:r>
              <a:rPr dirty="0" err="1"/>
              <a:t>Lernen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und </a:t>
            </a:r>
            <a:r>
              <a:rPr dirty="0" err="1"/>
              <a:t>verbessern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kontinuierlich</a:t>
            </a:r>
            <a:endParaRPr lang="de-DE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6C12B9F6-7F8D-48DD-97E3-EE3587AB9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5309" y="958640"/>
            <a:ext cx="2516093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32A14A90-FFFF-B4A3-B865-841094A37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0615" y="2397980"/>
            <a:ext cx="2051303" cy="205130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04FB0A-3918-43DC-83E9-600217A87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1D1DF376-FCFE-4FC3-A377-79806F988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707" cy="6858000"/>
          </a:xfrm>
          <a:custGeom>
            <a:avLst/>
            <a:gdLst>
              <a:gd name="connsiteX0" fmla="*/ 0 w 7552944"/>
              <a:gd name="connsiteY0" fmla="*/ 0 h 6858000"/>
              <a:gd name="connsiteX1" fmla="*/ 1067477 w 7552944"/>
              <a:gd name="connsiteY1" fmla="*/ 0 h 6858000"/>
              <a:gd name="connsiteX2" fmla="*/ 2201779 w 7552944"/>
              <a:gd name="connsiteY2" fmla="*/ 0 h 6858000"/>
              <a:gd name="connsiteX3" fmla="*/ 7552944 w 7552944"/>
              <a:gd name="connsiteY3" fmla="*/ 0 h 6858000"/>
              <a:gd name="connsiteX4" fmla="*/ 7552944 w 7552944"/>
              <a:gd name="connsiteY4" fmla="*/ 1900238 h 6858000"/>
              <a:gd name="connsiteX5" fmla="*/ 7182528 w 7552944"/>
              <a:gd name="connsiteY5" fmla="*/ 2178050 h 6858000"/>
              <a:gd name="connsiteX6" fmla="*/ 7178294 w 7552944"/>
              <a:gd name="connsiteY6" fmla="*/ 2184400 h 6858000"/>
              <a:gd name="connsiteX7" fmla="*/ 7171944 w 7552944"/>
              <a:gd name="connsiteY7" fmla="*/ 2193925 h 6858000"/>
              <a:gd name="connsiteX8" fmla="*/ 7165594 w 7552944"/>
              <a:gd name="connsiteY8" fmla="*/ 2201863 h 6858000"/>
              <a:gd name="connsiteX9" fmla="*/ 7165594 w 7552944"/>
              <a:gd name="connsiteY9" fmla="*/ 2211388 h 6858000"/>
              <a:gd name="connsiteX10" fmla="*/ 7165594 w 7552944"/>
              <a:gd name="connsiteY10" fmla="*/ 2220913 h 6858000"/>
              <a:gd name="connsiteX11" fmla="*/ 7171944 w 7552944"/>
              <a:gd name="connsiteY11" fmla="*/ 2228850 h 6858000"/>
              <a:gd name="connsiteX12" fmla="*/ 7178294 w 7552944"/>
              <a:gd name="connsiteY12" fmla="*/ 2238375 h 6858000"/>
              <a:gd name="connsiteX13" fmla="*/ 7182528 w 7552944"/>
              <a:gd name="connsiteY13" fmla="*/ 2244725 h 6858000"/>
              <a:gd name="connsiteX14" fmla="*/ 7552944 w 7552944"/>
              <a:gd name="connsiteY14" fmla="*/ 2522538 h 6858000"/>
              <a:gd name="connsiteX15" fmla="*/ 7552944 w 7552944"/>
              <a:gd name="connsiteY15" fmla="*/ 6858000 h 6858000"/>
              <a:gd name="connsiteX16" fmla="*/ 2201779 w 7552944"/>
              <a:gd name="connsiteY16" fmla="*/ 6858000 h 6858000"/>
              <a:gd name="connsiteX17" fmla="*/ 1067477 w 7552944"/>
              <a:gd name="connsiteY17" fmla="*/ 6858000 h 6858000"/>
              <a:gd name="connsiteX18" fmla="*/ 0 w 7552944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552944" h="6858000">
                <a:moveTo>
                  <a:pt x="0" y="0"/>
                </a:moveTo>
                <a:lnTo>
                  <a:pt x="1067477" y="0"/>
                </a:lnTo>
                <a:lnTo>
                  <a:pt x="2201779" y="0"/>
                </a:lnTo>
                <a:lnTo>
                  <a:pt x="7552944" y="0"/>
                </a:lnTo>
                <a:lnTo>
                  <a:pt x="7552944" y="1900238"/>
                </a:lnTo>
                <a:lnTo>
                  <a:pt x="7182528" y="2178050"/>
                </a:lnTo>
                <a:lnTo>
                  <a:pt x="7178294" y="2184400"/>
                </a:lnTo>
                <a:lnTo>
                  <a:pt x="7171944" y="2193925"/>
                </a:lnTo>
                <a:lnTo>
                  <a:pt x="7165594" y="2201863"/>
                </a:lnTo>
                <a:lnTo>
                  <a:pt x="7165594" y="2211388"/>
                </a:lnTo>
                <a:lnTo>
                  <a:pt x="7165594" y="2220913"/>
                </a:lnTo>
                <a:lnTo>
                  <a:pt x="7171944" y="2228850"/>
                </a:lnTo>
                <a:lnTo>
                  <a:pt x="7178294" y="2238375"/>
                </a:lnTo>
                <a:lnTo>
                  <a:pt x="7182528" y="2244725"/>
                </a:lnTo>
                <a:lnTo>
                  <a:pt x="7552944" y="2522538"/>
                </a:lnTo>
                <a:lnTo>
                  <a:pt x="7552944" y="6858000"/>
                </a:lnTo>
                <a:lnTo>
                  <a:pt x="2201779" y="6858000"/>
                </a:lnTo>
                <a:lnTo>
                  <a:pt x="106747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4573466" cy="1559412"/>
          </a:xfrm>
        </p:spPr>
        <p:txBody>
          <a:bodyPr>
            <a:normAutofit/>
          </a:bodyPr>
          <a:lstStyle/>
          <a:p>
            <a:r>
              <a:t>AI Agents in der Medienbranche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413000"/>
            <a:ext cx="4556384" cy="363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Content</a:t>
            </a:r>
            <a:r>
              <a:rPr lang="de-DE" dirty="0"/>
              <a:t> </a:t>
            </a:r>
            <a:r>
              <a:rPr dirty="0" err="1"/>
              <a:t>Erstellung</a:t>
            </a:r>
            <a:r>
              <a:rPr dirty="0"/>
              <a:t>: Artikel, </a:t>
            </a:r>
            <a:r>
              <a:rPr dirty="0" err="1"/>
              <a:t>Zusammenfassungen</a:t>
            </a:r>
            <a:r>
              <a:rPr dirty="0"/>
              <a:t>, </a:t>
            </a:r>
            <a:r>
              <a:rPr dirty="0" err="1"/>
              <a:t>Übersetzungen</a:t>
            </a:r>
            <a:endParaRPr lang="de-DE" dirty="0"/>
          </a:p>
          <a:p>
            <a:pPr>
              <a:lnSpc>
                <a:spcPct val="90000"/>
              </a:lnSpc>
            </a:pPr>
            <a:r>
              <a:rPr dirty="0" err="1"/>
              <a:t>Personalisierung</a:t>
            </a:r>
            <a:r>
              <a:rPr dirty="0"/>
              <a:t> von Inhalten für Leser</a:t>
            </a:r>
            <a:endParaRPr lang="de-DE" dirty="0"/>
          </a:p>
          <a:p>
            <a:pPr>
              <a:lnSpc>
                <a:spcPct val="90000"/>
              </a:lnSpc>
            </a:pPr>
            <a:r>
              <a:rPr dirty="0"/>
              <a:t>Recherche und </a:t>
            </a:r>
            <a:r>
              <a:rPr dirty="0" err="1"/>
              <a:t>Analyse</a:t>
            </a:r>
            <a:r>
              <a:rPr dirty="0"/>
              <a:t> für </a:t>
            </a:r>
            <a:r>
              <a:rPr dirty="0" err="1"/>
              <a:t>Journalisten</a:t>
            </a:r>
            <a:endParaRPr lang="de-DE" dirty="0"/>
          </a:p>
          <a:p>
            <a:pPr>
              <a:lnSpc>
                <a:spcPct val="90000"/>
              </a:lnSpc>
            </a:pPr>
            <a:r>
              <a:rPr dirty="0" err="1"/>
              <a:t>Kundenservice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automatische</a:t>
            </a:r>
            <a:r>
              <a:rPr dirty="0"/>
              <a:t> </a:t>
            </a:r>
            <a:r>
              <a:rPr dirty="0" err="1"/>
              <a:t>Antworten</a:t>
            </a:r>
            <a:endParaRPr lang="de-DE" dirty="0"/>
          </a:p>
          <a:p>
            <a:pPr>
              <a:lnSpc>
                <a:spcPct val="90000"/>
              </a:lnSpc>
            </a:pPr>
            <a:r>
              <a:rPr dirty="0"/>
              <a:t>Stark </a:t>
            </a:r>
            <a:r>
              <a:rPr dirty="0" err="1"/>
              <a:t>wachsender</a:t>
            </a:r>
            <a:r>
              <a:rPr dirty="0"/>
              <a:t> Markt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hoher</a:t>
            </a:r>
            <a:r>
              <a:rPr dirty="0"/>
              <a:t> </a:t>
            </a:r>
            <a:r>
              <a:rPr dirty="0" err="1"/>
              <a:t>Investitionsdynamik</a:t>
            </a:r>
            <a:endParaRPr lang="de-DE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6C12B9F6-7F8D-48DD-97E3-EE3587AB9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5309" y="958640"/>
            <a:ext cx="2516093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Zeitung">
            <a:extLst>
              <a:ext uri="{FF2B5EF4-FFF2-40B4-BE49-F238E27FC236}">
                <a16:creationId xmlns:a16="http://schemas.microsoft.com/office/drawing/2014/main" id="{C9E4E0B3-72F1-3323-EC38-9763C32A7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0615" y="2397980"/>
            <a:ext cx="2051303" cy="205130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Was ist eine SWOT-Analyse?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534094-C40B-27D7-3E8C-C58C7C0A77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822808"/>
              </p:ext>
            </p:extLst>
          </p:nvPr>
        </p:nvGraphicFramePr>
        <p:xfrm>
          <a:off x="614362" y="2548647"/>
          <a:ext cx="7915275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E0D4A3-ECB8-4689-ABDB-9CE848CE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de-DE" sz="2400">
                <a:solidFill>
                  <a:schemeClr val="tx1"/>
                </a:solidFill>
              </a:rPr>
              <a:t>Ziele der SWOT-Analyse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54772B-9C8F-4037-89E0-3A45208AB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19" y="1576408"/>
            <a:ext cx="8188361" cy="4638125"/>
          </a:xfrm>
          <a:custGeom>
            <a:avLst/>
            <a:gdLst>
              <a:gd name="connsiteX0" fmla="*/ 5441025 w 10917814"/>
              <a:gd name="connsiteY0" fmla="*/ 0 h 4638125"/>
              <a:gd name="connsiteX1" fmla="*/ 5453725 w 10917814"/>
              <a:gd name="connsiteY1" fmla="*/ 0 h 4638125"/>
              <a:gd name="connsiteX2" fmla="*/ 5464308 w 10917814"/>
              <a:gd name="connsiteY2" fmla="*/ 0 h 4638125"/>
              <a:gd name="connsiteX3" fmla="*/ 5477009 w 10917814"/>
              <a:gd name="connsiteY3" fmla="*/ 4762 h 4638125"/>
              <a:gd name="connsiteX4" fmla="*/ 5489708 w 10917814"/>
              <a:gd name="connsiteY4" fmla="*/ 9525 h 4638125"/>
              <a:gd name="connsiteX5" fmla="*/ 5498175 w 10917814"/>
              <a:gd name="connsiteY5" fmla="*/ 12700 h 4638125"/>
              <a:gd name="connsiteX6" fmla="*/ 5865801 w 10917814"/>
              <a:gd name="connsiteY6" fmla="*/ 288419 h 4638125"/>
              <a:gd name="connsiteX7" fmla="*/ 10765009 w 10917814"/>
              <a:gd name="connsiteY7" fmla="*/ 288419 h 4638125"/>
              <a:gd name="connsiteX8" fmla="*/ 10917814 w 10917814"/>
              <a:gd name="connsiteY8" fmla="*/ 441224 h 4638125"/>
              <a:gd name="connsiteX9" fmla="*/ 10917814 w 10917814"/>
              <a:gd name="connsiteY9" fmla="*/ 4485320 h 4638125"/>
              <a:gd name="connsiteX10" fmla="*/ 10765009 w 10917814"/>
              <a:gd name="connsiteY10" fmla="*/ 4638125 h 4638125"/>
              <a:gd name="connsiteX11" fmla="*/ 152805 w 10917814"/>
              <a:gd name="connsiteY11" fmla="*/ 4638125 h 4638125"/>
              <a:gd name="connsiteX12" fmla="*/ 0 w 10917814"/>
              <a:gd name="connsiteY12" fmla="*/ 4485320 h 4638125"/>
              <a:gd name="connsiteX13" fmla="*/ 0 w 10917814"/>
              <a:gd name="connsiteY13" fmla="*/ 441224 h 4638125"/>
              <a:gd name="connsiteX14" fmla="*/ 152805 w 10917814"/>
              <a:gd name="connsiteY14" fmla="*/ 288419 h 4638125"/>
              <a:gd name="connsiteX15" fmla="*/ 5041650 w 10917814"/>
              <a:gd name="connsiteY15" fmla="*/ 288419 h 4638125"/>
              <a:gd name="connsiteX16" fmla="*/ 5409275 w 10917814"/>
              <a:gd name="connsiteY16" fmla="*/ 12700 h 4638125"/>
              <a:gd name="connsiteX17" fmla="*/ 5417742 w 10917814"/>
              <a:gd name="connsiteY17" fmla="*/ 9525 h 4638125"/>
              <a:gd name="connsiteX18" fmla="*/ 5430442 w 10917814"/>
              <a:gd name="connsiteY18" fmla="*/ 4762 h 46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17814" h="4638125">
                <a:moveTo>
                  <a:pt x="5441025" y="0"/>
                </a:moveTo>
                <a:lnTo>
                  <a:pt x="5453725" y="0"/>
                </a:lnTo>
                <a:lnTo>
                  <a:pt x="5464308" y="0"/>
                </a:lnTo>
                <a:lnTo>
                  <a:pt x="5477009" y="4762"/>
                </a:lnTo>
                <a:lnTo>
                  <a:pt x="5489708" y="9525"/>
                </a:lnTo>
                <a:lnTo>
                  <a:pt x="5498175" y="12700"/>
                </a:lnTo>
                <a:lnTo>
                  <a:pt x="5865801" y="288419"/>
                </a:lnTo>
                <a:lnTo>
                  <a:pt x="10765009" y="288419"/>
                </a:lnTo>
                <a:cubicBezTo>
                  <a:pt x="10849401" y="288419"/>
                  <a:pt x="10917814" y="356832"/>
                  <a:pt x="10917814" y="441224"/>
                </a:cubicBezTo>
                <a:lnTo>
                  <a:pt x="10917814" y="4485320"/>
                </a:lnTo>
                <a:cubicBezTo>
                  <a:pt x="10917814" y="4569712"/>
                  <a:pt x="10849401" y="4638125"/>
                  <a:pt x="10765009" y="4638125"/>
                </a:cubicBezTo>
                <a:lnTo>
                  <a:pt x="152805" y="4638125"/>
                </a:lnTo>
                <a:cubicBezTo>
                  <a:pt x="68413" y="4638125"/>
                  <a:pt x="0" y="4569712"/>
                  <a:pt x="0" y="4485320"/>
                </a:cubicBezTo>
                <a:lnTo>
                  <a:pt x="0" y="441224"/>
                </a:lnTo>
                <a:cubicBezTo>
                  <a:pt x="0" y="356832"/>
                  <a:pt x="68413" y="288419"/>
                  <a:pt x="152805" y="288419"/>
                </a:cubicBezTo>
                <a:lnTo>
                  <a:pt x="5041650" y="288419"/>
                </a:lnTo>
                <a:lnTo>
                  <a:pt x="5409275" y="12700"/>
                </a:lnTo>
                <a:lnTo>
                  <a:pt x="5417742" y="9525"/>
                </a:lnTo>
                <a:lnTo>
                  <a:pt x="5430442" y="476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799" y="2222287"/>
            <a:ext cx="7475214" cy="3636511"/>
          </a:xfrm>
          <a:effectLst/>
        </p:spPr>
        <p:txBody>
          <a:bodyPr>
            <a:normAutofit/>
          </a:bodyPr>
          <a:lstStyle/>
          <a:p>
            <a:r>
              <a:t>Bestimmung der aktuellen Marktposition</a:t>
            </a:r>
          </a:p>
          <a:p>
            <a:r>
              <a:t>Erkennen von Wettbewerbsvorteilen</a:t>
            </a:r>
          </a:p>
          <a:p>
            <a:r>
              <a:t>Identifikation von Risiken</a:t>
            </a:r>
          </a:p>
          <a:p>
            <a:r>
              <a:t>Ableitung geeigneter Strategien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rPr lang="de-DE" sz="3700"/>
              <a:t>Fallbeispiel Medienunternehmen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E360AAC-C507-CF33-55CA-46D776E459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433324"/>
              </p:ext>
            </p:extLst>
          </p:nvPr>
        </p:nvGraphicFramePr>
        <p:xfrm>
          <a:off x="614362" y="2494722"/>
          <a:ext cx="7915275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(Stärken)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Großer bestehender Kundenstamm</a:t>
            </a:r>
          </a:p>
          <a:p>
            <a:r>
              <a:t>Erfahrene Mitarbeiter</a:t>
            </a:r>
          </a:p>
          <a:p>
            <a:r>
              <a:t>Etablierte Marke</a:t>
            </a:r>
          </a:p>
          <a:p>
            <a:r>
              <a:t>Finanzielle Stabilität</a:t>
            </a:r>
          </a:p>
          <a:p>
            <a:r>
              <a:t>Zugang zu großen Datenmengen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 (Schwächen)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Keine AI-Kompetenz</a:t>
            </a:r>
          </a:p>
          <a:p>
            <a:r>
              <a:t>Traditionelle Unternehmenskultur</a:t>
            </a:r>
          </a:p>
          <a:p>
            <a:r>
              <a:t>Abhängigkeit vom Print-Geschäft</a:t>
            </a:r>
          </a:p>
          <a:p>
            <a:r>
              <a:t>Fehlende technische Infrastruktur</a:t>
            </a:r>
          </a:p>
          <a:p>
            <a:r>
              <a:t>Geringes Software-Know-how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 (Chancen)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Wachsender Markt für AI Agents</a:t>
            </a:r>
          </a:p>
          <a:p>
            <a:r>
              <a:t>Personalisierte Inhalte</a:t>
            </a:r>
          </a:p>
          <a:p>
            <a:r>
              <a:t>Neue digitale Geschäftsmodelle</a:t>
            </a:r>
          </a:p>
          <a:p>
            <a:r>
              <a:t>Effizienzsteigerung in Redaktionen</a:t>
            </a:r>
          </a:p>
          <a:p>
            <a:r>
              <a:t>Kooperationen mit Tech-Unternehmen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 (Bedrohungen)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Dominanz großer Tech-Konzerne</a:t>
            </a:r>
          </a:p>
          <a:p>
            <a:r>
              <a:t>Hohe Investitionskosten</a:t>
            </a:r>
          </a:p>
          <a:p>
            <a:r>
              <a:t>Schneller technologischer Wandel</a:t>
            </a:r>
          </a:p>
          <a:p>
            <a:r>
              <a:t>Rechtliche und Datenschutzrisiken</a:t>
            </a:r>
          </a:p>
          <a:p>
            <a:r>
              <a:t>Starke digitale Konkurrenz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8E7FC2-AC99-6783-CC85-2B4DFC9C66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0275" r="42234"/>
          <a:stretch>
            <a:fillRect/>
          </a:stretch>
        </p:blipFill>
        <p:spPr>
          <a:xfrm>
            <a:off x="4581525" y="-1"/>
            <a:ext cx="4570837" cy="6858001"/>
          </a:xfrm>
          <a:prstGeom prst="rect">
            <a:avLst/>
          </a:prstGeom>
        </p:spPr>
      </p:pic>
      <p:sp>
        <p:nvSpPr>
          <p:cNvPr id="9" name="Freeform 16">
            <a:extLst>
              <a:ext uri="{FF2B5EF4-FFF2-40B4-BE49-F238E27FC236}">
                <a16:creationId xmlns:a16="http://schemas.microsoft.com/office/drawing/2014/main" id="{8977846B-3E2A-49C0-873D-DADC1D67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864100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3802575" cy="1559412"/>
          </a:xfrm>
        </p:spPr>
        <p:txBody>
          <a:bodyPr>
            <a:normAutofit/>
          </a:bodyPr>
          <a:lstStyle/>
          <a:p>
            <a:r>
              <a:rPr dirty="0"/>
              <a:t>SWOT-Matrix </a:t>
            </a:r>
            <a:r>
              <a:rPr dirty="0" err="1"/>
              <a:t>Strategie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413000"/>
            <a:ext cx="3791942" cy="3632200"/>
          </a:xfrm>
        </p:spPr>
        <p:txBody>
          <a:bodyPr>
            <a:normAutofit/>
          </a:bodyPr>
          <a:lstStyle/>
          <a:p>
            <a:r>
              <a:t>Stärken nutzen: Kunden &amp; Daten für personalisierte Inhalte</a:t>
            </a:r>
          </a:p>
          <a:p>
            <a:r>
              <a:t>Schwächen minimieren: Partnerschaften &amp; Schulungen</a:t>
            </a:r>
          </a:p>
          <a:p>
            <a:r>
              <a:t>Stärken gegen Bedrohungen einsetzen</a:t>
            </a:r>
          </a:p>
          <a:p>
            <a:r>
              <a:t>Fokus auf Nischenlösungen statt Massenmarkt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345293" y="1345293"/>
            <a:ext cx="6858000" cy="4167414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1298449"/>
            <a:ext cx="3867912" cy="3824696"/>
          </a:xfrm>
        </p:spPr>
        <p:txBody>
          <a:bodyPr anchor="ctr">
            <a:normAutofit/>
          </a:bodyPr>
          <a:lstStyle/>
          <a:p>
            <a:r>
              <a:rPr lang="de-DE" sz="2400" dirty="0"/>
              <a:t>Konkrete Handlungsempfehlung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6051" y="978993"/>
            <a:ext cx="4023913" cy="4900014"/>
          </a:xfrm>
          <a:effectLst/>
        </p:spPr>
        <p:txBody>
          <a:bodyPr>
            <a:normAutofit/>
          </a:bodyPr>
          <a:lstStyle/>
          <a:p>
            <a:r>
              <a:t>Keine Eigenentwicklung von AI Agents</a:t>
            </a:r>
          </a:p>
          <a:p>
            <a:r>
              <a:t>Integration bestehender AI-Technologien</a:t>
            </a:r>
          </a:p>
          <a:p>
            <a:r>
              <a:t>Pilotprojekt für Content-Personalisierung</a:t>
            </a:r>
          </a:p>
          <a:p>
            <a:r>
              <a:t>Kooperation mit etablierten Anbietern</a:t>
            </a:r>
          </a:p>
          <a:p>
            <a:r>
              <a:t>Schulung der Mitarbeiter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F1E0D4A3-ECB8-4689-ABDB-9CE848CE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de-DE" sz="2400">
                <a:solidFill>
                  <a:schemeClr val="tx1"/>
                </a:solidFill>
              </a:rPr>
              <a:t>Fazit</a:t>
            </a:r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8854772B-9C8F-4037-89E0-3A45208AB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19" y="1576408"/>
            <a:ext cx="8188361" cy="4638125"/>
          </a:xfrm>
          <a:custGeom>
            <a:avLst/>
            <a:gdLst>
              <a:gd name="connsiteX0" fmla="*/ 5441025 w 10917814"/>
              <a:gd name="connsiteY0" fmla="*/ 0 h 4638125"/>
              <a:gd name="connsiteX1" fmla="*/ 5453725 w 10917814"/>
              <a:gd name="connsiteY1" fmla="*/ 0 h 4638125"/>
              <a:gd name="connsiteX2" fmla="*/ 5464308 w 10917814"/>
              <a:gd name="connsiteY2" fmla="*/ 0 h 4638125"/>
              <a:gd name="connsiteX3" fmla="*/ 5477009 w 10917814"/>
              <a:gd name="connsiteY3" fmla="*/ 4762 h 4638125"/>
              <a:gd name="connsiteX4" fmla="*/ 5489708 w 10917814"/>
              <a:gd name="connsiteY4" fmla="*/ 9525 h 4638125"/>
              <a:gd name="connsiteX5" fmla="*/ 5498175 w 10917814"/>
              <a:gd name="connsiteY5" fmla="*/ 12700 h 4638125"/>
              <a:gd name="connsiteX6" fmla="*/ 5865801 w 10917814"/>
              <a:gd name="connsiteY6" fmla="*/ 288419 h 4638125"/>
              <a:gd name="connsiteX7" fmla="*/ 10765009 w 10917814"/>
              <a:gd name="connsiteY7" fmla="*/ 288419 h 4638125"/>
              <a:gd name="connsiteX8" fmla="*/ 10917814 w 10917814"/>
              <a:gd name="connsiteY8" fmla="*/ 441224 h 4638125"/>
              <a:gd name="connsiteX9" fmla="*/ 10917814 w 10917814"/>
              <a:gd name="connsiteY9" fmla="*/ 4485320 h 4638125"/>
              <a:gd name="connsiteX10" fmla="*/ 10765009 w 10917814"/>
              <a:gd name="connsiteY10" fmla="*/ 4638125 h 4638125"/>
              <a:gd name="connsiteX11" fmla="*/ 152805 w 10917814"/>
              <a:gd name="connsiteY11" fmla="*/ 4638125 h 4638125"/>
              <a:gd name="connsiteX12" fmla="*/ 0 w 10917814"/>
              <a:gd name="connsiteY12" fmla="*/ 4485320 h 4638125"/>
              <a:gd name="connsiteX13" fmla="*/ 0 w 10917814"/>
              <a:gd name="connsiteY13" fmla="*/ 441224 h 4638125"/>
              <a:gd name="connsiteX14" fmla="*/ 152805 w 10917814"/>
              <a:gd name="connsiteY14" fmla="*/ 288419 h 4638125"/>
              <a:gd name="connsiteX15" fmla="*/ 5041650 w 10917814"/>
              <a:gd name="connsiteY15" fmla="*/ 288419 h 4638125"/>
              <a:gd name="connsiteX16" fmla="*/ 5409275 w 10917814"/>
              <a:gd name="connsiteY16" fmla="*/ 12700 h 4638125"/>
              <a:gd name="connsiteX17" fmla="*/ 5417742 w 10917814"/>
              <a:gd name="connsiteY17" fmla="*/ 9525 h 4638125"/>
              <a:gd name="connsiteX18" fmla="*/ 5430442 w 10917814"/>
              <a:gd name="connsiteY18" fmla="*/ 4762 h 46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17814" h="4638125">
                <a:moveTo>
                  <a:pt x="5441025" y="0"/>
                </a:moveTo>
                <a:lnTo>
                  <a:pt x="5453725" y="0"/>
                </a:lnTo>
                <a:lnTo>
                  <a:pt x="5464308" y="0"/>
                </a:lnTo>
                <a:lnTo>
                  <a:pt x="5477009" y="4762"/>
                </a:lnTo>
                <a:lnTo>
                  <a:pt x="5489708" y="9525"/>
                </a:lnTo>
                <a:lnTo>
                  <a:pt x="5498175" y="12700"/>
                </a:lnTo>
                <a:lnTo>
                  <a:pt x="5865801" y="288419"/>
                </a:lnTo>
                <a:lnTo>
                  <a:pt x="10765009" y="288419"/>
                </a:lnTo>
                <a:cubicBezTo>
                  <a:pt x="10849401" y="288419"/>
                  <a:pt x="10917814" y="356832"/>
                  <a:pt x="10917814" y="441224"/>
                </a:cubicBezTo>
                <a:lnTo>
                  <a:pt x="10917814" y="4485320"/>
                </a:lnTo>
                <a:cubicBezTo>
                  <a:pt x="10917814" y="4569712"/>
                  <a:pt x="10849401" y="4638125"/>
                  <a:pt x="10765009" y="4638125"/>
                </a:cubicBezTo>
                <a:lnTo>
                  <a:pt x="152805" y="4638125"/>
                </a:lnTo>
                <a:cubicBezTo>
                  <a:pt x="68413" y="4638125"/>
                  <a:pt x="0" y="4569712"/>
                  <a:pt x="0" y="4485320"/>
                </a:cubicBezTo>
                <a:lnTo>
                  <a:pt x="0" y="441224"/>
                </a:lnTo>
                <a:cubicBezTo>
                  <a:pt x="0" y="356832"/>
                  <a:pt x="68413" y="288419"/>
                  <a:pt x="152805" y="288419"/>
                </a:cubicBezTo>
                <a:lnTo>
                  <a:pt x="5041650" y="288419"/>
                </a:lnTo>
                <a:lnTo>
                  <a:pt x="5409275" y="12700"/>
                </a:lnTo>
                <a:lnTo>
                  <a:pt x="5417742" y="9525"/>
                </a:lnTo>
                <a:lnTo>
                  <a:pt x="5430442" y="476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799" y="2222287"/>
            <a:ext cx="7475214" cy="3636511"/>
          </a:xfrm>
          <a:effectLst/>
        </p:spPr>
        <p:txBody>
          <a:bodyPr>
            <a:normAutofit/>
          </a:bodyPr>
          <a:lstStyle/>
          <a:p>
            <a:r>
              <a:t>Hohes Potenzial für den Einsatz von AI Agents</a:t>
            </a:r>
          </a:p>
          <a:p>
            <a:r>
              <a:t>Chancen überwiegen bei richtiger Strategie</a:t>
            </a:r>
          </a:p>
          <a:p>
            <a:r>
              <a:t>Integration statt Eigenentwicklung</a:t>
            </a:r>
          </a:p>
          <a:p>
            <a:r>
              <a:t>SWOT-Analyse als Entscheidungsgrundlage</a:t>
            </a:r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Zitierfähig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Zitierfähig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Zitierfähig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TM03457503[[fn=Zitierfähig]]</Template>
  <TotalTime>0</TotalTime>
  <Words>304</Words>
  <Application>Microsoft Office PowerPoint</Application>
  <PresentationFormat>Bildschirmpräsentation (4:3)</PresentationFormat>
  <Paragraphs>84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Century Gothic</vt:lpstr>
      <vt:lpstr>Wingdings 2</vt:lpstr>
      <vt:lpstr>Zitierfähig</vt:lpstr>
      <vt:lpstr>SWOT-Analyse. AI Agents im Medienunternehmen</vt:lpstr>
      <vt:lpstr>Was sind AI Agents?</vt:lpstr>
      <vt:lpstr>AI Agents in der Medienbranche</vt:lpstr>
      <vt:lpstr>Was ist eine SWOT-Analyse?</vt:lpstr>
      <vt:lpstr>Ziele der SWOT-Analyse</vt:lpstr>
      <vt:lpstr>Fallbeispiel Medienunternehmen</vt:lpstr>
      <vt:lpstr>Strengths (Stärken)</vt:lpstr>
      <vt:lpstr>Weaknesses (Schwächen)</vt:lpstr>
      <vt:lpstr>Opportunities (Chancen)</vt:lpstr>
      <vt:lpstr>Threats (Bedrohungen)</vt:lpstr>
      <vt:lpstr>SWOT-Matrix Strategie</vt:lpstr>
      <vt:lpstr>Konkrete Handlungsempfehlung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Dmytro Zozulia</cp:lastModifiedBy>
  <cp:revision>8</cp:revision>
  <dcterms:created xsi:type="dcterms:W3CDTF">2013-01-27T09:14:16Z</dcterms:created>
  <dcterms:modified xsi:type="dcterms:W3CDTF">2026-01-20T12:49:03Z</dcterms:modified>
  <cp:category/>
</cp:coreProperties>
</file>