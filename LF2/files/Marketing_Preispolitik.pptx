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5C7298-1A16-DB70-046F-5F396F1EE5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A2D2449-91C7-4F8C-D00C-1BA632D6E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517A41E-1A28-DB42-CAF4-45083E328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3799-00A4-41BB-B3E9-94E22877DB3B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2804C06-649B-D8EB-FF39-58F573C7E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24A0C1-AF4B-758A-C9F1-AE9523F5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B7BB-0066-470F-A40D-712E6113D2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740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4BB6E3-FA2E-8934-4E6E-EC73898FB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1AF66F7-32EB-9DC0-1802-932915E86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112CD65-A6C1-C88B-F484-D43CFEA1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3799-00A4-41BB-B3E9-94E22877DB3B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E4668E2-CD08-C8A0-71A0-EFE50488A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3498FC1-5690-3826-4114-CA66B8334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B7BB-0066-470F-A40D-712E6113D2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0135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F09BE6-BB39-D056-A5EA-B89EEB4A2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EC90D6-603E-9396-EACC-7E12176E9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48C1D6B-273A-5CA1-1F26-1776521D8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3799-00A4-41BB-B3E9-94E22877DB3B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E14EB5D-6098-89A3-57E3-794928BFE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268F48-A437-40B0-B146-0140496F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B7BB-0066-470F-A40D-712E6113D2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4221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E616C33-2A23-5BE3-0F5F-C6F1BD1CD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F3FBD6-974B-4E4D-B33E-CECDFDBEE3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D704358-D56C-6C69-8D7A-9B50EB126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F83CDDB-79E9-3E7B-69CE-3DBD1B195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3799-00A4-41BB-B3E9-94E22877DB3B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D2B9F3-42EC-5CA9-0BA0-767CBB22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225799-888A-FD1F-DC2A-CBA68BFE1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B7BB-0066-470F-A40D-712E6113D2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6828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AF3E6B-58A2-5B02-238D-96782B1BB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13BAC62-EE6C-DECC-BC51-269CC9D8F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8F0BE5-B1B9-E5E2-E87C-B69C1E8E7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B567C73-8B50-C0E3-688A-EE7B50569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C851C6D-479D-122F-AAAE-19C88CD62B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D8EEBC9-B5EB-FA0B-9BFF-8624F7553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3799-00A4-41BB-B3E9-94E22877DB3B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6E9E209-808E-2847-B949-16696A810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220871B-9C3B-E98B-311F-F2B4BCB22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B7BB-0066-470F-A40D-712E6113D2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36544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E9D6FB-D0B6-AF30-65B3-269292EDD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119B0D-079F-A3FA-E076-49A12BBDE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3799-00A4-41BB-B3E9-94E22877DB3B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95156F0-EE45-D3FD-3BAF-514A643D4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7524A14-7ACF-ABE8-2E9E-E561F70E0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B7BB-0066-470F-A40D-712E6113D2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9650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41BF54A-329D-B34B-641F-BD3FBEA9C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3799-00A4-41BB-B3E9-94E22877DB3B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F4E32AC-F5C0-4D10-20BA-5A7693015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35B4904-5CF6-CF30-4933-748AFB69E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B7BB-0066-470F-A40D-712E6113D2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032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F4E718-1C3E-8856-8F9B-42D9F7447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C09AB8B-F54F-2C34-592E-00865701B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50CF5D-1525-32A9-7D22-BB0A9ED3CC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D21E400-0951-97F6-5E6B-DD13A9BDB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3799-00A4-41BB-B3E9-94E22877DB3B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D36920A-8197-B8CB-829F-69C0D53C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444C9EA-E840-CE50-1955-08B26397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B7BB-0066-470F-A40D-712E6113D2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673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BF5A4F-CBA7-CCCE-9212-5870D67A2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EF8DEC6-704C-3EAA-E131-76FBEDDA84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BAC72DB-1357-486A-3E01-9E1A9CA4F2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A18533C-A085-9FC0-25E8-F28F4DF16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3799-00A4-41BB-B3E9-94E22877DB3B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EBF7657-7923-A471-EB4A-E44D8688E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8A63A03-149E-2727-D24A-4EECA9AD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B7BB-0066-470F-A40D-712E6113D2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30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AAFF85-4AD7-97D3-F2A2-3316C08E4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45AEC8-72C5-4D33-D0D6-18A44979B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288359-B557-E80E-4002-73875E153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3799-00A4-41BB-B3E9-94E22877DB3B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441235C-D256-0489-89BA-BF15EC68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EEF9EEC-769F-3A53-4C71-A1071A76E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B7BB-0066-470F-A40D-712E6113D2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168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618B919-0644-AF8B-DB92-BA2CC1E418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4DBAA47-B74C-3FF4-53D9-39FA142B55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288708-9441-659A-C79A-C17A0BD29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A3799-00A4-41BB-B3E9-94E22877DB3B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04A627-FB93-27A9-7306-ED3AB5CA5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5B04842-829F-8370-E85C-9FAA5ECF1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AEB7BB-0066-470F-A40D-712E6113D2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2345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43558D43-0431-3CFC-A075-73DA12AF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432925-FB99-1A9D-FA7A-C214CD103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4FB664-089F-7979-6194-5CBCF3EA8F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2A3799-00A4-41BB-B3E9-94E22877DB3B}" type="datetimeFigureOut">
              <a:rPr lang="de-DE" smtClean="0"/>
              <a:t>06.01.2026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33DA4F-0CE5-48E4-743F-E4A82D697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5A34FC-5AAC-A845-3B28-2E0C04807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AEB7BB-0066-470F-A40D-712E6113D28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5195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6FF76B9-219D-4469-AF87-0236D2903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B88BD78-87E1-424D-B479-C37D8E41B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0964637" y="2358"/>
            <a:ext cx="1876653" cy="1766008"/>
            <a:chOff x="-648769" y="2358"/>
            <a:chExt cx="1876653" cy="176600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05EB894-9410-4B20-95E4-7A25101AB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-415188" y="-231223"/>
              <a:ext cx="1409491" cy="1876653"/>
            </a:xfrm>
            <a:custGeom>
              <a:avLst/>
              <a:gdLst>
                <a:gd name="connsiteX0" fmla="*/ 0 w 1409491"/>
                <a:gd name="connsiteY0" fmla="*/ 643075 h 1876653"/>
                <a:gd name="connsiteX1" fmla="*/ 643075 w 1409491"/>
                <a:gd name="connsiteY1" fmla="*/ 0 h 1876653"/>
                <a:gd name="connsiteX2" fmla="*/ 1409491 w 1409491"/>
                <a:gd name="connsiteY2" fmla="*/ 0 h 1876653"/>
                <a:gd name="connsiteX3" fmla="*/ 1409491 w 1409491"/>
                <a:gd name="connsiteY3" fmla="*/ 1876653 h 1876653"/>
                <a:gd name="connsiteX4" fmla="*/ 1233578 w 1409491"/>
                <a:gd name="connsiteY4" fmla="*/ 1876653 h 18766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491" h="1876653">
                  <a:moveTo>
                    <a:pt x="0" y="643075"/>
                  </a:moveTo>
                  <a:lnTo>
                    <a:pt x="643075" y="0"/>
                  </a:lnTo>
                  <a:lnTo>
                    <a:pt x="1409491" y="0"/>
                  </a:lnTo>
                  <a:lnTo>
                    <a:pt x="1409491" y="1876653"/>
                  </a:lnTo>
                  <a:lnTo>
                    <a:pt x="1233578" y="1876653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66E38B6-B050-4340-8E8F-3A971DADC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2700000">
              <a:off x="301285" y="1282788"/>
              <a:ext cx="485578" cy="485578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2E80C965-DB6D-4F81-9E9E-B027384D0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700000">
            <a:off x="2737196" y="6033666"/>
            <a:ext cx="645368" cy="645368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33C5E46-DAC5-4661-9C87-22B08E2A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43436" y="5721108"/>
            <a:ext cx="2261965" cy="1136891"/>
          </a:xfrm>
          <a:prstGeom prst="triangle">
            <a:avLst>
              <a:gd name="adj" fmla="val 50000"/>
            </a:avLst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elle 4">
            <a:extLst>
              <a:ext uri="{FF2B5EF4-FFF2-40B4-BE49-F238E27FC236}">
                <a16:creationId xmlns:a16="http://schemas.microsoft.com/office/drawing/2014/main" id="{679DC0A1-8C0F-5B58-1560-ACC9DA6239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0272518"/>
              </p:ext>
            </p:extLst>
          </p:nvPr>
        </p:nvGraphicFramePr>
        <p:xfrm>
          <a:off x="5527735" y="1127250"/>
          <a:ext cx="6375230" cy="3546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7615">
                  <a:extLst>
                    <a:ext uri="{9D8B030D-6E8A-4147-A177-3AD203B41FA5}">
                      <a16:colId xmlns:a16="http://schemas.microsoft.com/office/drawing/2014/main" val="416066838"/>
                    </a:ext>
                  </a:extLst>
                </a:gridCol>
                <a:gridCol w="3187615">
                  <a:extLst>
                    <a:ext uri="{9D8B030D-6E8A-4147-A177-3AD203B41FA5}">
                      <a16:colId xmlns:a16="http://schemas.microsoft.com/office/drawing/2014/main" val="2731648920"/>
                    </a:ext>
                  </a:extLst>
                </a:gridCol>
              </a:tblGrid>
              <a:tr h="65772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Name der </a:t>
                      </a:r>
                      <a:r>
                        <a:rPr lang="en-US" sz="1800" dirty="0" err="1"/>
                        <a:t>Strategie</a:t>
                      </a:r>
                      <a:endParaRPr lang="de-DE" sz="1800" dirty="0"/>
                    </a:p>
                  </a:txBody>
                  <a:tcPr marL="122682" marR="122682" marT="61341" marB="6134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Preisfaktor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nach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Marktstart</a:t>
                      </a:r>
                      <a:endParaRPr lang="de-DE" sz="1800" dirty="0"/>
                    </a:p>
                  </a:txBody>
                  <a:tcPr marL="122682" marR="122682" marT="61341" marB="61341"/>
                </a:tc>
                <a:extLst>
                  <a:ext uri="{0D108BD9-81ED-4DB2-BD59-A6C34878D82A}">
                    <a16:rowId xmlns:a16="http://schemas.microsoft.com/office/drawing/2014/main" val="2726385239"/>
                  </a:ext>
                </a:extLst>
              </a:tr>
              <a:tr h="673783">
                <a:tc>
                  <a:txBody>
                    <a:bodyPr/>
                    <a:lstStyle/>
                    <a:p>
                      <a:r>
                        <a:rPr lang="en-US" sz="1800" dirty="0" err="1"/>
                        <a:t>Mengenmäßige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Preisdifferenzierung</a:t>
                      </a:r>
                      <a:endParaRPr lang="de-DE" sz="1800" dirty="0"/>
                    </a:p>
                  </a:txBody>
                  <a:tcPr marL="122682" marR="122682" marT="61341" marB="61341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Gekaufte</a:t>
                      </a:r>
                      <a:r>
                        <a:rPr lang="en-US" sz="1800" dirty="0"/>
                        <a:t> Menge </a:t>
                      </a:r>
                    </a:p>
                    <a:p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z.B.</a:t>
                      </a:r>
                      <a:r>
                        <a:rPr lang="en-US" sz="1800" dirty="0"/>
                        <a:t> Mengenrabatt)</a:t>
                      </a:r>
                    </a:p>
                  </a:txBody>
                  <a:tcPr marL="122682" marR="122682" marT="61341" marB="61341"/>
                </a:tc>
                <a:extLst>
                  <a:ext uri="{0D108BD9-81ED-4DB2-BD59-A6C34878D82A}">
                    <a16:rowId xmlns:a16="http://schemas.microsoft.com/office/drawing/2014/main" val="4056106915"/>
                  </a:ext>
                </a:extLst>
              </a:tr>
              <a:tr h="673783">
                <a:tc>
                  <a:txBody>
                    <a:bodyPr/>
                    <a:lstStyle/>
                    <a:p>
                      <a:r>
                        <a:rPr lang="en-US" sz="1800" dirty="0" err="1"/>
                        <a:t>Zeitliche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Preisdifferenzierung</a:t>
                      </a:r>
                      <a:endParaRPr lang="de-DE" sz="1800" dirty="0"/>
                    </a:p>
                  </a:txBody>
                  <a:tcPr marL="122682" marR="122682" marT="61341" marB="61341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Zeitpunkt</a:t>
                      </a:r>
                      <a:r>
                        <a:rPr lang="en-US" sz="1800" dirty="0"/>
                        <a:t> des </a:t>
                      </a:r>
                      <a:r>
                        <a:rPr lang="en-US" sz="1800" dirty="0" err="1"/>
                        <a:t>Kaufes</a:t>
                      </a:r>
                      <a:endParaRPr lang="en-US" sz="1800" dirty="0"/>
                    </a:p>
                    <a:p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z.B.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Weihnachtssale</a:t>
                      </a:r>
                      <a:r>
                        <a:rPr lang="en-US" sz="1800" dirty="0"/>
                        <a:t>)</a:t>
                      </a:r>
                    </a:p>
                  </a:txBody>
                  <a:tcPr marL="122682" marR="122682" marT="61341" marB="61341"/>
                </a:tc>
                <a:extLst>
                  <a:ext uri="{0D108BD9-81ED-4DB2-BD59-A6C34878D82A}">
                    <a16:rowId xmlns:a16="http://schemas.microsoft.com/office/drawing/2014/main" val="761032848"/>
                  </a:ext>
                </a:extLst>
              </a:tr>
              <a:tr h="673783">
                <a:tc>
                  <a:txBody>
                    <a:bodyPr/>
                    <a:lstStyle/>
                    <a:p>
                      <a:r>
                        <a:rPr lang="en-US" sz="1800" dirty="0" err="1"/>
                        <a:t>Personelle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Differenzierung</a:t>
                      </a:r>
                      <a:endParaRPr lang="de-DE" sz="1800" dirty="0"/>
                    </a:p>
                  </a:txBody>
                  <a:tcPr marL="122682" marR="122682" marT="61341" marB="61341"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Kategorie</a:t>
                      </a:r>
                      <a:r>
                        <a:rPr lang="en-US" sz="1800" dirty="0"/>
                        <a:t> des Kunden</a:t>
                      </a:r>
                    </a:p>
                    <a:p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z.B.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Schülerrabatt</a:t>
                      </a:r>
                      <a:r>
                        <a:rPr lang="en-US" sz="1800" dirty="0"/>
                        <a:t>)</a:t>
                      </a:r>
                    </a:p>
                  </a:txBody>
                  <a:tcPr marL="122682" marR="122682" marT="61341" marB="61341"/>
                </a:tc>
                <a:extLst>
                  <a:ext uri="{0D108BD9-81ED-4DB2-BD59-A6C34878D82A}">
                    <a16:rowId xmlns:a16="http://schemas.microsoft.com/office/drawing/2014/main" val="235029170"/>
                  </a:ext>
                </a:extLst>
              </a:tr>
              <a:tr h="867280">
                <a:tc>
                  <a:txBody>
                    <a:bodyPr/>
                    <a:lstStyle/>
                    <a:p>
                      <a:r>
                        <a:rPr lang="en-US" sz="1800" dirty="0" err="1"/>
                        <a:t>Räumliche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Preisdifferenzierung</a:t>
                      </a:r>
                      <a:endParaRPr lang="de-DE" sz="1800" dirty="0"/>
                    </a:p>
                  </a:txBody>
                  <a:tcPr marL="122682" marR="122682" marT="61341" marB="61341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Ort des </a:t>
                      </a:r>
                      <a:r>
                        <a:rPr lang="en-US" sz="1800" dirty="0" err="1"/>
                        <a:t>Kaufes</a:t>
                      </a:r>
                      <a:endParaRPr lang="en-US" sz="1800" dirty="0"/>
                    </a:p>
                    <a:p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z.B.</a:t>
                      </a:r>
                      <a:r>
                        <a:rPr lang="en-US" sz="1800" dirty="0"/>
                        <a:t> Internet/Analog, Region)</a:t>
                      </a:r>
                    </a:p>
                  </a:txBody>
                  <a:tcPr marL="122682" marR="122682" marT="61341" marB="61341"/>
                </a:tc>
                <a:extLst>
                  <a:ext uri="{0D108BD9-81ED-4DB2-BD59-A6C34878D82A}">
                    <a16:rowId xmlns:a16="http://schemas.microsoft.com/office/drawing/2014/main" val="2606364630"/>
                  </a:ext>
                </a:extLst>
              </a:tr>
            </a:tbl>
          </a:graphicData>
        </a:graphic>
      </p:graphicFrame>
      <p:sp>
        <p:nvSpPr>
          <p:cNvPr id="6" name="Textfeld 5">
            <a:extLst>
              <a:ext uri="{FF2B5EF4-FFF2-40B4-BE49-F238E27FC236}">
                <a16:creationId xmlns:a16="http://schemas.microsoft.com/office/drawing/2014/main" id="{A13E525E-6FE5-2AEC-BC7D-50C62DF75084}"/>
              </a:ext>
            </a:extLst>
          </p:cNvPr>
          <p:cNvSpPr txBox="1"/>
          <p:nvPr/>
        </p:nvSpPr>
        <p:spPr>
          <a:xfrm>
            <a:off x="3695337" y="251136"/>
            <a:ext cx="3569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u="sng" dirty="0" err="1"/>
              <a:t>Preispolitik</a:t>
            </a:r>
            <a:endParaRPr lang="de-DE" sz="3200" b="1" u="sng" dirty="0"/>
          </a:p>
        </p:txBody>
      </p:sp>
      <p:graphicFrame>
        <p:nvGraphicFramePr>
          <p:cNvPr id="7" name="Tabelle 6">
            <a:extLst>
              <a:ext uri="{FF2B5EF4-FFF2-40B4-BE49-F238E27FC236}">
                <a16:creationId xmlns:a16="http://schemas.microsoft.com/office/drawing/2014/main" id="{137F69DD-37B0-C40B-88F2-614BE7423E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4409357"/>
              </p:ext>
            </p:extLst>
          </p:nvPr>
        </p:nvGraphicFramePr>
        <p:xfrm>
          <a:off x="289037" y="1127251"/>
          <a:ext cx="503016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0168">
                  <a:extLst>
                    <a:ext uri="{9D8B030D-6E8A-4147-A177-3AD203B41FA5}">
                      <a16:colId xmlns:a16="http://schemas.microsoft.com/office/drawing/2014/main" val="3345093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Preisfaktoren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vor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Marktstart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609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Herstellungskosten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8435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Nachfrage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0826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Konkurrenz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788258"/>
                  </a:ext>
                </a:extLst>
              </a:tr>
            </a:tbl>
          </a:graphicData>
        </a:graphic>
      </p:graphicFrame>
      <p:sp>
        <p:nvSpPr>
          <p:cNvPr id="9" name="Ellipse 8">
            <a:extLst>
              <a:ext uri="{FF2B5EF4-FFF2-40B4-BE49-F238E27FC236}">
                <a16:creationId xmlns:a16="http://schemas.microsoft.com/office/drawing/2014/main" id="{993688F2-FEDC-9B7C-9009-B3DDB0445991}"/>
              </a:ext>
            </a:extLst>
          </p:cNvPr>
          <p:cNvSpPr/>
          <p:nvPr/>
        </p:nvSpPr>
        <p:spPr>
          <a:xfrm>
            <a:off x="243289" y="2901951"/>
            <a:ext cx="4720491" cy="20682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FE41D99-5A58-1FDB-3AAD-14F43F6AE20B}"/>
              </a:ext>
            </a:extLst>
          </p:cNvPr>
          <p:cNvSpPr txBox="1"/>
          <p:nvPr/>
        </p:nvSpPr>
        <p:spPr>
          <a:xfrm>
            <a:off x="904427" y="3521390"/>
            <a:ext cx="36368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“</a:t>
            </a:r>
            <a:r>
              <a:rPr lang="en-US" b="1" dirty="0" err="1">
                <a:solidFill>
                  <a:schemeClr val="bg1"/>
                </a:solidFill>
              </a:rPr>
              <a:t>Preispolitik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umfasst</a:t>
            </a:r>
            <a:r>
              <a:rPr lang="en-US" b="1" dirty="0">
                <a:solidFill>
                  <a:schemeClr val="bg1"/>
                </a:solidFill>
              </a:rPr>
              <a:t> alle </a:t>
            </a:r>
          </a:p>
          <a:p>
            <a:pPr algn="ctr"/>
            <a:r>
              <a:rPr lang="en-US" b="1" dirty="0" err="1">
                <a:solidFill>
                  <a:schemeClr val="bg1"/>
                </a:solidFill>
              </a:rPr>
              <a:t>Entscheidungen</a:t>
            </a:r>
            <a:r>
              <a:rPr lang="en-US" b="1" dirty="0">
                <a:solidFill>
                  <a:schemeClr val="bg1"/>
                </a:solidFill>
              </a:rPr>
              <a:t> der </a:t>
            </a:r>
            <a:r>
              <a:rPr lang="en-US" b="1" dirty="0" err="1">
                <a:solidFill>
                  <a:schemeClr val="bg1"/>
                </a:solidFill>
              </a:rPr>
              <a:t>Preispolitik</a:t>
            </a:r>
            <a:r>
              <a:rPr lang="en-US" b="1" dirty="0">
                <a:solidFill>
                  <a:schemeClr val="bg1"/>
                </a:solidFill>
              </a:rPr>
              <a:t>”</a:t>
            </a:r>
            <a:endParaRPr lang="de-DE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820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3DFD6EB-0E9D-1130-DBB0-2C47697D5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300">
                <a:solidFill>
                  <a:schemeClr val="tx2"/>
                </a:solidFill>
              </a:rPr>
              <a:t>Mögliche Maßnahmen Gegen den Absatzrückgang</a:t>
            </a:r>
            <a:endParaRPr lang="de-DE" sz="3300">
              <a:solidFill>
                <a:schemeClr val="tx2"/>
              </a:solidFill>
            </a:endParaRPr>
          </a:p>
        </p:txBody>
      </p:sp>
      <p:pic>
        <p:nvPicPr>
          <p:cNvPr id="7" name="Graphic 6" descr="Marke">
            <a:extLst>
              <a:ext uri="{FF2B5EF4-FFF2-40B4-BE49-F238E27FC236}">
                <a16:creationId xmlns:a16="http://schemas.microsoft.com/office/drawing/2014/main" id="{1A5CF5B6-FCA3-8A6B-64DD-BADB38093A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1AEB7C-75D0-8419-9636-F7B15A7EA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anchor="ctr">
            <a:normAutofit/>
          </a:bodyPr>
          <a:lstStyle/>
          <a:p>
            <a:r>
              <a:rPr lang="de-DE" sz="2400" dirty="0">
                <a:solidFill>
                  <a:schemeClr val="tx2"/>
                </a:solidFill>
              </a:rPr>
              <a:t>Mengenrabatt -&gt; mengenmäßige Preisdifferenzierung</a:t>
            </a:r>
          </a:p>
          <a:p>
            <a:pPr lvl="1"/>
            <a:r>
              <a:rPr lang="de-DE" dirty="0">
                <a:solidFill>
                  <a:schemeClr val="tx2"/>
                </a:solidFill>
              </a:rPr>
              <a:t>Interessanter für Firmen</a:t>
            </a:r>
          </a:p>
          <a:p>
            <a:r>
              <a:rPr lang="de-DE" sz="2400" dirty="0">
                <a:solidFill>
                  <a:schemeClr val="tx2"/>
                </a:solidFill>
              </a:rPr>
              <a:t>Rabatt nach Systemupdate -&gt; zeitliche Preisdifferenzierung</a:t>
            </a:r>
          </a:p>
          <a:p>
            <a:pPr lvl="1"/>
            <a:r>
              <a:rPr lang="de-DE" dirty="0">
                <a:solidFill>
                  <a:schemeClr val="tx2"/>
                </a:solidFill>
              </a:rPr>
              <a:t>Neue Features günstiger anbieten</a:t>
            </a:r>
          </a:p>
          <a:p>
            <a:r>
              <a:rPr lang="de-DE" sz="2400" dirty="0">
                <a:solidFill>
                  <a:schemeClr val="tx2"/>
                </a:solidFill>
              </a:rPr>
              <a:t>Rabatt für Onlinekäufe -&gt; Räumliche Preisdifferenzierung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64586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</Words>
  <Application>Microsoft Office PowerPoint</Application>
  <PresentationFormat>Breitbild</PresentationFormat>
  <Paragraphs>27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</vt:lpstr>
      <vt:lpstr>PowerPoint-Präsentation</vt:lpstr>
      <vt:lpstr>Mögliche Maßnahmen Gegen den Absatzrückgang</vt:lpstr>
    </vt:vector>
  </TitlesOfParts>
  <Company>Koerber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Merlin Gessler</dc:creator>
  <cp:lastModifiedBy>Merlin Gessler</cp:lastModifiedBy>
  <cp:revision>1</cp:revision>
  <dcterms:created xsi:type="dcterms:W3CDTF">2026-01-06T09:11:48Z</dcterms:created>
  <dcterms:modified xsi:type="dcterms:W3CDTF">2026-01-06T10:01:19Z</dcterms:modified>
</cp:coreProperties>
</file>